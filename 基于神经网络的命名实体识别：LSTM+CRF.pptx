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tiff" ContentType="image/tif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393" r:id="rId4"/>
    <p:sldId id="405" r:id="rId5"/>
    <p:sldId id="404" r:id="rId6"/>
    <p:sldId id="403" r:id="rId7"/>
    <p:sldId id="384" r:id="rId8"/>
    <p:sldId id="440" r:id="rId9"/>
    <p:sldId id="443" r:id="rId10"/>
    <p:sldId id="441" r:id="rId11"/>
    <p:sldId id="445" r:id="rId12"/>
    <p:sldId id="442" r:id="rId13"/>
    <p:sldId id="444" r:id="rId14"/>
    <p:sldId id="33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50"/>
    <a:srgbClr val="FF0000"/>
    <a:srgbClr val="FF40FF"/>
    <a:srgbClr val="942093"/>
    <a:srgbClr val="FF2600"/>
    <a:srgbClr val="D88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87"/>
    <p:restoredTop sz="93159" autoAdjust="0"/>
  </p:normalViewPr>
  <p:slideViewPr>
    <p:cSldViewPr snapToGrid="0" snapToObjects="1">
      <p:cViewPr varScale="1">
        <p:scale>
          <a:sx n="67" d="100"/>
          <a:sy n="67" d="100"/>
        </p:scale>
        <p:origin x="78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1A63B-1BDD-D942-90ED-E902E979B3A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0127D-09EA-0A45-8815-CDD8F393D56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2247"/>
            <a:ext cx="12192000" cy="839561"/>
          </a:xfrm>
        </p:spPr>
        <p:txBody>
          <a:bodyPr>
            <a:normAutofit/>
          </a:bodyPr>
          <a:lstStyle>
            <a:lvl1pPr>
              <a:defRPr sz="40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113" y="1045029"/>
            <a:ext cx="11901715" cy="5131934"/>
          </a:xfrm>
        </p:spPr>
        <p:txBody>
          <a:bodyPr lIns="72000"/>
          <a:lstStyle>
            <a:lvl1pPr marL="228600" indent="-228600">
              <a:lnSpc>
                <a:spcPct val="120000"/>
              </a:lnSpc>
              <a:buClr>
                <a:srgbClr val="942093"/>
              </a:buClr>
              <a:buSzPct val="100000"/>
              <a:buFont typeface="Wingdings" panose="05000000000000000000" pitchFamily="2" charset="2"/>
              <a:buChar char="q"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10000"/>
              </a:lnSpc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1A63B-1BDD-D942-90ED-E902E979B3A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0127D-09EA-0A45-8815-CDD8F393D568}" type="slidenum">
              <a:rPr lang="en-US" smtClean="0"/>
            </a:fld>
            <a:endParaRPr lang="en-US"/>
          </a:p>
        </p:txBody>
      </p:sp>
      <p:cxnSp>
        <p:nvCxnSpPr>
          <p:cNvPr id="7" name="直接连接符 9"/>
          <p:cNvCxnSpPr/>
          <p:nvPr userDrawn="1"/>
        </p:nvCxnSpPr>
        <p:spPr>
          <a:xfrm>
            <a:off x="0" y="838200"/>
            <a:ext cx="12192000" cy="0"/>
          </a:xfrm>
          <a:prstGeom prst="line">
            <a:avLst/>
          </a:prstGeom>
          <a:ln w="28575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1A63B-1BDD-D942-90ED-E902E979B3A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0127D-09EA-0A45-8815-CDD8F393D56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1A63B-1BDD-D942-90ED-E902E979B3A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0127D-09EA-0A45-8815-CDD8F393D56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1A63B-1BDD-D942-90ED-E902E979B3AA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0127D-09EA-0A45-8815-CDD8F393D56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1A63B-1BDD-D942-90ED-E902E979B3AA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0127D-09EA-0A45-8815-CDD8F393D56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1A63B-1BDD-D942-90ED-E902E979B3AA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0127D-09EA-0A45-8815-CDD8F393D56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1A63B-1BDD-D942-90ED-E902E979B3A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0127D-09EA-0A45-8815-CDD8F393D56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1A63B-1BDD-D942-90ED-E902E979B3A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0127D-09EA-0A45-8815-CDD8F393D56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1A63B-1BDD-D942-90ED-E902E979B3A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0127D-09EA-0A45-8815-CDD8F393D56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1A63B-1BDD-D942-90ED-E902E979B3A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0127D-09EA-0A45-8815-CDD8F393D56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.tiff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hyperlink" Target="https://tjunlp-lab.github.io/" TargetMode="External"/><Relationship Id="rId1" Type="http://schemas.openxmlformats.org/officeDocument/2006/relationships/hyperlink" Target="mailto:dyxiong@tju.edu.cn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79677" y="930800"/>
            <a:ext cx="10301467" cy="209018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Aft>
                <a:spcPts val="3600"/>
              </a:spcAft>
            </a:pPr>
            <a:r>
              <a:rPr lang="zh-CN" altLang="en-US" sz="4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人工智能皇冠上的明珠：自然语言处理</a:t>
            </a:r>
            <a:br>
              <a:rPr lang="en-US" altLang="zh-CN" sz="4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4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简介、最新进展、未来趋势</a:t>
            </a:r>
            <a:endParaRPr lang="en-US" sz="4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63140" y="3298785"/>
            <a:ext cx="6858000" cy="2199190"/>
          </a:xfrm>
        </p:spPr>
        <p:txBody>
          <a:bodyPr>
            <a:normAutofit lnSpcReduction="10000"/>
          </a:bodyPr>
          <a:lstStyle/>
          <a:p>
            <a:r>
              <a:rPr lang="zh-CN" altLang="en-US" sz="2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熊德意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天津大学智能与计算学部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endParaRPr lang="en-US" altLang="zh-CN" dirty="0"/>
          </a:p>
          <a:p>
            <a:r>
              <a:rPr lang="en-US" altLang="zh-CN" dirty="0">
                <a:hlinkClick r:id="rId1"/>
              </a:rPr>
              <a:t>dyxiong@tju.edu.cn</a:t>
            </a:r>
            <a:endParaRPr lang="en-US" altLang="zh-CN" dirty="0"/>
          </a:p>
          <a:p>
            <a:r>
              <a:rPr lang="en-US" dirty="0">
                <a:hlinkClick r:id="rId2"/>
              </a:rPr>
              <a:t>https://tjunlp-lab.github.io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10" name="直接连接符 9"/>
          <p:cNvCxnSpPr>
            <a:endCxn id="12" idx="1"/>
          </p:cNvCxnSpPr>
          <p:nvPr/>
        </p:nvCxnSpPr>
        <p:spPr>
          <a:xfrm flipV="1">
            <a:off x="0" y="838200"/>
            <a:ext cx="10812680" cy="11724"/>
          </a:xfrm>
          <a:prstGeom prst="line">
            <a:avLst/>
          </a:prstGeom>
          <a:ln w="28575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97" y="-153377"/>
            <a:ext cx="2273300" cy="10033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2680" y="152400"/>
            <a:ext cx="1371600" cy="13716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0529" y="5634036"/>
            <a:ext cx="2443223" cy="10836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语言分析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113" y="1045029"/>
            <a:ext cx="11901715" cy="659484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命名实体识别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99619" y="1690968"/>
            <a:ext cx="11334702" cy="1276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942093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任务目标：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Name Entity Recognition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NER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），对文本中具有特定意义或指代性强的实体进行标注，一般为人名、地名、机构名、日期时间、专有名词等。该任务是关系抽取、知识图谱、问答等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NLP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任务的基础。</a:t>
            </a:r>
            <a:endParaRPr kumimoji="0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745726" y="3432535"/>
            <a:ext cx="3693108" cy="2103829"/>
            <a:chOff x="2502227" y="2887917"/>
            <a:chExt cx="2708859" cy="2103829"/>
          </a:xfrm>
        </p:grpSpPr>
        <p:sp>
          <p:nvSpPr>
            <p:cNvPr id="5" name="文本框 4"/>
            <p:cNvSpPr txBox="1"/>
            <p:nvPr/>
          </p:nvSpPr>
          <p:spPr>
            <a:xfrm>
              <a:off x="2502227" y="3672828"/>
              <a:ext cx="12086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/>
                <a:t>NER</a:t>
              </a:r>
              <a:r>
                <a:rPr lang="zh-CN" altLang="en-US" sz="2000" b="1" dirty="0"/>
                <a:t>任务组成</a:t>
              </a:r>
              <a:endParaRPr lang="zh-CN" altLang="en-US" sz="2000" b="1" dirty="0"/>
            </a:p>
          </p:txBody>
        </p:sp>
        <p:sp>
          <p:nvSpPr>
            <p:cNvPr id="6" name="左大括号 5"/>
            <p:cNvSpPr/>
            <p:nvPr/>
          </p:nvSpPr>
          <p:spPr>
            <a:xfrm>
              <a:off x="3710867" y="3068985"/>
              <a:ext cx="213064" cy="1786087"/>
            </a:xfrm>
            <a:prstGeom prst="leftBrac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4036365" y="2887917"/>
              <a:ext cx="1174721" cy="36933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实体边界识别</a:t>
              </a:r>
              <a:endParaRPr lang="zh-CN" altLang="en-US" b="1" dirty="0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4036365" y="4622414"/>
              <a:ext cx="1174721" cy="36933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确定实体类型</a:t>
              </a:r>
              <a:endParaRPr lang="zh-CN" altLang="en-US" b="1" dirty="0"/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4532050" y="5167032"/>
            <a:ext cx="2308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包括三大类七小类：</a:t>
            </a:r>
            <a:endParaRPr lang="zh-CN" altLang="en-US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6915705" y="5167032"/>
            <a:ext cx="3604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2"/>
                </a:solidFill>
                <a:sym typeface="Wingdings" panose="05000000000000000000" pitchFamily="2" charset="2"/>
              </a:rPr>
              <a:t> </a:t>
            </a:r>
            <a:r>
              <a:rPr lang="zh-CN" altLang="en-US" dirty="0"/>
              <a:t>实体类、时间类、数字类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6915705" y="5812971"/>
            <a:ext cx="3604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2"/>
                </a:solidFill>
                <a:sym typeface="Wingdings" panose="05000000000000000000" pitchFamily="2" charset="2"/>
              </a:rPr>
              <a:t> </a:t>
            </a:r>
            <a:r>
              <a:rPr lang="zh-CN" altLang="en-US" dirty="0">
                <a:sym typeface="Wingdings" panose="05000000000000000000" pitchFamily="2" charset="2"/>
              </a:rPr>
              <a:t>人名、地名、组织机构名、时间、日期、货币、百分数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4532050" y="3439590"/>
            <a:ext cx="3020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标注方法一般为</a:t>
            </a:r>
            <a:r>
              <a:rPr lang="en-US" altLang="zh-CN" b="1" dirty="0"/>
              <a:t>BIO</a:t>
            </a:r>
            <a:r>
              <a:rPr lang="zh-CN" altLang="en-US" b="1" dirty="0"/>
              <a:t>或</a:t>
            </a:r>
            <a:r>
              <a:rPr lang="en-US" altLang="zh-CN" b="1" dirty="0"/>
              <a:t>BIOSE</a:t>
            </a:r>
            <a:r>
              <a:rPr lang="zh-CN" altLang="en-US" b="1" dirty="0"/>
              <a:t>：</a:t>
            </a:r>
            <a:endParaRPr lang="zh-CN" altLang="en-US" b="1" dirty="0"/>
          </a:p>
        </p:txBody>
      </p:sp>
      <p:sp>
        <p:nvSpPr>
          <p:cNvPr id="14" name="文本框 13"/>
          <p:cNvSpPr txBox="1"/>
          <p:nvPr/>
        </p:nvSpPr>
        <p:spPr>
          <a:xfrm>
            <a:off x="7486685" y="2841027"/>
            <a:ext cx="4324279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accent2"/>
                </a:solidFill>
                <a:sym typeface="Wingdings" panose="05000000000000000000" pitchFamily="2" charset="2"/>
              </a:rPr>
              <a:t> B</a:t>
            </a:r>
            <a:r>
              <a:rPr lang="en-US" altLang="zh-CN" sz="2000" dirty="0">
                <a:sym typeface="Wingdings" panose="05000000000000000000" pitchFamily="2" charset="2"/>
              </a:rPr>
              <a:t>eginning</a:t>
            </a:r>
            <a:r>
              <a:rPr lang="zh-CN" altLang="en-US" sz="2000" dirty="0">
                <a:sym typeface="Wingdings" panose="05000000000000000000" pitchFamily="2" charset="2"/>
              </a:rPr>
              <a:t>开始 </a:t>
            </a:r>
            <a:endParaRPr lang="en-US" altLang="zh-CN" sz="2000" dirty="0">
              <a:sym typeface="Wingdings" panose="05000000000000000000" pitchFamily="2" charset="2"/>
            </a:endParaRPr>
          </a:p>
          <a:p>
            <a:r>
              <a:rPr lang="en-US" altLang="zh-CN" sz="2000" dirty="0">
                <a:solidFill>
                  <a:schemeClr val="accent2"/>
                </a:solidFill>
                <a:sym typeface="Wingdings" panose="05000000000000000000" pitchFamily="2" charset="2"/>
              </a:rPr>
              <a:t> I</a:t>
            </a:r>
            <a:r>
              <a:rPr lang="en-US" altLang="zh-CN" sz="2000" dirty="0">
                <a:sym typeface="Wingdings" panose="05000000000000000000" pitchFamily="2" charset="2"/>
              </a:rPr>
              <a:t>nside</a:t>
            </a:r>
            <a:r>
              <a:rPr lang="zh-CN" altLang="en-US" sz="2000" dirty="0">
                <a:sym typeface="Wingdings" panose="05000000000000000000" pitchFamily="2" charset="2"/>
              </a:rPr>
              <a:t>内部</a:t>
            </a:r>
            <a:endParaRPr lang="en-US" altLang="zh-CN" sz="2000" dirty="0">
              <a:sym typeface="Wingdings" panose="05000000000000000000" pitchFamily="2" charset="2"/>
            </a:endParaRPr>
          </a:p>
          <a:p>
            <a:r>
              <a:rPr lang="zh-CN" altLang="en-US" sz="2000" dirty="0">
                <a:sym typeface="Wingdings" panose="05000000000000000000" pitchFamily="2" charset="2"/>
              </a:rPr>
              <a:t> </a:t>
            </a:r>
            <a:r>
              <a:rPr lang="en-US" altLang="zh-CN" sz="2000" dirty="0">
                <a:solidFill>
                  <a:schemeClr val="accent2"/>
                </a:solidFill>
                <a:sym typeface="Wingdings" panose="05000000000000000000" pitchFamily="2" charset="2"/>
              </a:rPr>
              <a:t>O</a:t>
            </a:r>
            <a:r>
              <a:rPr lang="en-US" altLang="zh-CN" sz="2000" dirty="0">
                <a:sym typeface="Wingdings" panose="05000000000000000000" pitchFamily="2" charset="2"/>
              </a:rPr>
              <a:t>utside</a:t>
            </a:r>
            <a:r>
              <a:rPr lang="zh-CN" altLang="en-US" sz="2000" dirty="0">
                <a:sym typeface="Wingdings" panose="05000000000000000000" pitchFamily="2" charset="2"/>
              </a:rPr>
              <a:t>非实体词 </a:t>
            </a:r>
            <a:endParaRPr lang="en-US" altLang="zh-CN" sz="2000" dirty="0">
              <a:sym typeface="Wingdings" panose="05000000000000000000" pitchFamily="2" charset="2"/>
            </a:endParaRPr>
          </a:p>
          <a:p>
            <a:r>
              <a:rPr lang="en-US" altLang="zh-CN" sz="2000" dirty="0">
                <a:solidFill>
                  <a:schemeClr val="accent2"/>
                </a:solidFill>
                <a:sym typeface="Wingdings" panose="05000000000000000000" pitchFamily="2" charset="2"/>
              </a:rPr>
              <a:t> E</a:t>
            </a:r>
            <a:r>
              <a:rPr lang="en-US" altLang="zh-CN" sz="2000" dirty="0">
                <a:sym typeface="Wingdings" panose="05000000000000000000" pitchFamily="2" charset="2"/>
              </a:rPr>
              <a:t>nd</a:t>
            </a:r>
            <a:r>
              <a:rPr lang="zh-CN" altLang="en-US" sz="2000" dirty="0">
                <a:sym typeface="Wingdings" panose="05000000000000000000" pitchFamily="2" charset="2"/>
              </a:rPr>
              <a:t>实体词的结尾 </a:t>
            </a:r>
            <a:endParaRPr lang="en-US" altLang="zh-CN" sz="2000" dirty="0">
              <a:sym typeface="Wingdings" panose="05000000000000000000" pitchFamily="2" charset="2"/>
            </a:endParaRPr>
          </a:p>
          <a:p>
            <a:r>
              <a:rPr lang="en-US" altLang="zh-CN" sz="2000" dirty="0">
                <a:solidFill>
                  <a:schemeClr val="accent2"/>
                </a:solidFill>
                <a:sym typeface="Wingdings" panose="05000000000000000000" pitchFamily="2" charset="2"/>
              </a:rPr>
              <a:t> S</a:t>
            </a:r>
            <a:r>
              <a:rPr lang="en-US" altLang="zh-CN" sz="2000" dirty="0">
                <a:sym typeface="Wingdings" panose="05000000000000000000" pitchFamily="2" charset="2"/>
              </a:rPr>
              <a:t>ingle</a:t>
            </a:r>
            <a:r>
              <a:rPr lang="zh-CN" altLang="en-US" sz="2000" dirty="0">
                <a:sym typeface="Wingdings" panose="05000000000000000000" pitchFamily="2" charset="2"/>
              </a:rPr>
              <a:t>实体词仅包含当前一</a:t>
            </a:r>
            <a:r>
              <a:rPr lang="zh-CN" altLang="en-US" dirty="0">
                <a:sym typeface="Wingdings" panose="05000000000000000000" pitchFamily="2" charset="2"/>
              </a:rPr>
              <a:t>个字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语言分析</a:t>
            </a:r>
            <a:endParaRPr 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293087" y="1167185"/>
            <a:ext cx="11334702" cy="464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942093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任务实现：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传统机器学习条件随机场（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CRF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）方法实现</a:t>
            </a:r>
            <a:endParaRPr kumimoji="0" lang="en-US" altLang="zh-CN" sz="2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408497" y="1690968"/>
                <a:ext cx="11334702" cy="8704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lnSpc>
                    <a:spcPct val="120000"/>
                  </a:lnSpc>
                  <a:spcBef>
                    <a:spcPts val="1000"/>
                  </a:spcBef>
                  <a:buClr>
                    <a:srgbClr val="942093"/>
                  </a:buClr>
                  <a:buSzPct val="100000"/>
                  <a:defRPr/>
                </a:pPr>
                <a:r>
                  <a:rPr lang="zh-CN" altLang="en-US" sz="22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𝑋</m:t>
                    </m:r>
                    <m:r>
                      <a:rPr lang="en-US" altLang="zh-CN" sz="2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=(</m:t>
                    </m:r>
                    <m:sSub>
                      <m:sSubPr>
                        <m:ctrlPr>
                          <a:rPr lang="en-US" altLang="zh-CN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kumimoji="0" lang="en-US" altLang="zh-CN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𝑌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</m:t>
                    </m:r>
                    <m:d>
                      <m:dPr>
                        <m:ctrlPr>
                          <a:rPr lang="en-US" altLang="zh-CN" sz="22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2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2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为线性链表示的随机变量序列，给定</a:t>
                </a:r>
                <a14:m>
                  <m:oMath xmlns:m="http://schemas.openxmlformats.org/officeDocument/2006/math">
                    <m:r>
                      <a:rPr lang="en-US" altLang="zh-CN" sz="2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𝑋</m:t>
                    </m:r>
                  </m:oMath>
                </a14:m>
                <a:r>
                  <a:rPr lang="zh-CN" altLang="en-US" sz="22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的条件下，</a:t>
                </a:r>
                <a:r>
                  <a:rPr lang="en-US" altLang="zh-CN" sz="2200" dirty="0">
                    <a:solidFill>
                      <a:prstClr val="black"/>
                    </a:solidFill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𝑌</m:t>
                    </m:r>
                  </m:oMath>
                </a14:m>
                <a:r>
                  <a:rPr lang="zh-CN" altLang="en-US" sz="22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的条件概率分布构成条件随机场（即：满足马尔科夫性），称</a:t>
                </a:r>
                <a14:m>
                  <m:oMath xmlns:m="http://schemas.openxmlformats.org/officeDocument/2006/math">
                    <m:r>
                      <a:rPr lang="en-US" altLang="zh-CN" sz="2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𝑃</m:t>
                    </m:r>
                    <m:r>
                      <a:rPr lang="en-US" altLang="zh-CN" sz="2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2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𝑌</m:t>
                    </m:r>
                    <m:r>
                      <a:rPr lang="en-US" altLang="zh-CN" sz="2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|</m:t>
                    </m:r>
                    <m:r>
                      <a:rPr lang="en-US" altLang="zh-CN" sz="2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𝑋</m:t>
                    </m:r>
                    <m:r>
                      <a:rPr lang="en-US" altLang="zh-CN" sz="2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22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为线性链条件随机场。</a:t>
                </a:r>
                <a:r>
                  <a:rPr lang="en-US" altLang="zh-CN" sz="22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lang="en-US" altLang="zh-CN" sz="22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497" y="1690968"/>
                <a:ext cx="11334702" cy="870431"/>
              </a:xfrm>
              <a:prstGeom prst="rect">
                <a:avLst/>
              </a:prstGeom>
              <a:blipFill rotWithShape="1">
                <a:blip r:embed="rId1"/>
                <a:stretch>
                  <a:fillRect l="-2" t="-69" r="1" b="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组合 31"/>
          <p:cNvGrpSpPr/>
          <p:nvPr/>
        </p:nvGrpSpPr>
        <p:grpSpPr>
          <a:xfrm>
            <a:off x="178569" y="3117517"/>
            <a:ext cx="5154966" cy="3043745"/>
            <a:chOff x="3235739" y="2717312"/>
            <a:chExt cx="5154966" cy="3043745"/>
          </a:xfrm>
        </p:grpSpPr>
        <p:grpSp>
          <p:nvGrpSpPr>
            <p:cNvPr id="29" name="组合 28"/>
            <p:cNvGrpSpPr/>
            <p:nvPr/>
          </p:nvGrpSpPr>
          <p:grpSpPr>
            <a:xfrm>
              <a:off x="3235739" y="3345758"/>
              <a:ext cx="5154966" cy="1651250"/>
              <a:chOff x="3209101" y="3706770"/>
              <a:chExt cx="5154966" cy="1651250"/>
            </a:xfrm>
          </p:grpSpPr>
          <p:sp>
            <p:nvSpPr>
              <p:cNvPr id="5" name="流程图: 接点 4"/>
              <p:cNvSpPr/>
              <p:nvPr/>
            </p:nvSpPr>
            <p:spPr>
              <a:xfrm>
                <a:off x="4577744" y="3909423"/>
                <a:ext cx="443884" cy="464166"/>
              </a:xfrm>
              <a:prstGeom prst="flowChartConnector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/>
                  <a:t>y</a:t>
                </a:r>
                <a:r>
                  <a:rPr lang="en-US" altLang="zh-CN" sz="500" dirty="0"/>
                  <a:t>1</a:t>
                </a:r>
                <a:endParaRPr lang="zh-CN" altLang="en-US" dirty="0"/>
              </a:p>
            </p:txBody>
          </p:sp>
          <p:sp>
            <p:nvSpPr>
              <p:cNvPr id="6" name="流程图: 接点 5"/>
              <p:cNvSpPr/>
              <p:nvPr/>
            </p:nvSpPr>
            <p:spPr>
              <a:xfrm>
                <a:off x="5688932" y="3909423"/>
                <a:ext cx="443884" cy="464166"/>
              </a:xfrm>
              <a:prstGeom prst="flowChartConnector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/>
                  <a:t>y</a:t>
                </a:r>
                <a:r>
                  <a:rPr lang="en-US" altLang="zh-CN" sz="500" dirty="0"/>
                  <a:t>2</a:t>
                </a:r>
                <a:endParaRPr lang="zh-CN" altLang="en-US" sz="1600" dirty="0"/>
              </a:p>
            </p:txBody>
          </p:sp>
          <p:sp>
            <p:nvSpPr>
              <p:cNvPr id="7" name="流程图: 接点 6"/>
              <p:cNvSpPr/>
              <p:nvPr/>
            </p:nvSpPr>
            <p:spPr>
              <a:xfrm>
                <a:off x="6800120" y="3909423"/>
                <a:ext cx="443884" cy="464166"/>
              </a:xfrm>
              <a:prstGeom prst="flowChartConnector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/>
                  <a:t>y</a:t>
                </a:r>
                <a:r>
                  <a:rPr lang="en-US" altLang="zh-CN" sz="500" dirty="0"/>
                  <a:t>3</a:t>
                </a:r>
                <a:endParaRPr lang="zh-CN" altLang="en-US" sz="1600" dirty="0"/>
              </a:p>
            </p:txBody>
          </p:sp>
          <p:sp>
            <p:nvSpPr>
              <p:cNvPr id="8" name="流程图: 接点 7"/>
              <p:cNvSpPr/>
              <p:nvPr/>
            </p:nvSpPr>
            <p:spPr>
              <a:xfrm>
                <a:off x="7911308" y="3909423"/>
                <a:ext cx="443884" cy="464166"/>
              </a:xfrm>
              <a:prstGeom prst="flowChartConnector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/>
                  <a:t>y</a:t>
                </a:r>
                <a:r>
                  <a:rPr lang="en-US" altLang="zh-CN" sz="500" dirty="0"/>
                  <a:t>4</a:t>
                </a:r>
                <a:endParaRPr lang="zh-CN" altLang="en-US" sz="1600" dirty="0"/>
              </a:p>
            </p:txBody>
          </p:sp>
          <p:sp>
            <p:nvSpPr>
              <p:cNvPr id="9" name="流程图: 接点 8"/>
              <p:cNvSpPr/>
              <p:nvPr/>
            </p:nvSpPr>
            <p:spPr>
              <a:xfrm>
                <a:off x="4586619" y="4772280"/>
                <a:ext cx="443884" cy="464166"/>
              </a:xfrm>
              <a:prstGeom prst="flowChartConnector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x</a:t>
                </a:r>
                <a:r>
                  <a:rPr lang="en-US" altLang="zh-CN" sz="500" dirty="0"/>
                  <a:t>1</a:t>
                </a:r>
                <a:endParaRPr lang="zh-CN" altLang="en-US" dirty="0"/>
              </a:p>
            </p:txBody>
          </p:sp>
          <p:sp>
            <p:nvSpPr>
              <p:cNvPr id="10" name="流程图: 接点 9"/>
              <p:cNvSpPr/>
              <p:nvPr/>
            </p:nvSpPr>
            <p:spPr>
              <a:xfrm>
                <a:off x="5697807" y="4772280"/>
                <a:ext cx="443884" cy="464166"/>
              </a:xfrm>
              <a:prstGeom prst="flowChartConnector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x</a:t>
                </a:r>
                <a:r>
                  <a:rPr lang="en-US" altLang="zh-CN" sz="500" dirty="0"/>
                  <a:t>2</a:t>
                </a:r>
                <a:endParaRPr lang="zh-CN" altLang="en-US" dirty="0"/>
              </a:p>
            </p:txBody>
          </p:sp>
          <p:sp>
            <p:nvSpPr>
              <p:cNvPr id="11" name="流程图: 接点 10"/>
              <p:cNvSpPr/>
              <p:nvPr/>
            </p:nvSpPr>
            <p:spPr>
              <a:xfrm>
                <a:off x="6808995" y="4772280"/>
                <a:ext cx="443884" cy="464166"/>
              </a:xfrm>
              <a:prstGeom prst="flowChartConnector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x</a:t>
                </a:r>
                <a:r>
                  <a:rPr lang="en-US" altLang="zh-CN" sz="500" dirty="0"/>
                  <a:t>3</a:t>
                </a:r>
                <a:endParaRPr lang="zh-CN" altLang="en-US" dirty="0"/>
              </a:p>
            </p:txBody>
          </p:sp>
          <p:sp>
            <p:nvSpPr>
              <p:cNvPr id="12" name="流程图: 接点 11"/>
              <p:cNvSpPr/>
              <p:nvPr/>
            </p:nvSpPr>
            <p:spPr>
              <a:xfrm>
                <a:off x="7920183" y="4772280"/>
                <a:ext cx="443884" cy="464166"/>
              </a:xfrm>
              <a:prstGeom prst="flowChartConnector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/>
                  <a:t>x</a:t>
                </a:r>
                <a:r>
                  <a:rPr lang="en-US" altLang="zh-CN" sz="500" dirty="0"/>
                  <a:t>4</a:t>
                </a:r>
                <a:endParaRPr lang="zh-CN" altLang="en-US" dirty="0"/>
              </a:p>
            </p:txBody>
          </p:sp>
          <p:cxnSp>
            <p:nvCxnSpPr>
              <p:cNvPr id="13" name="直接连接符 12"/>
              <p:cNvCxnSpPr>
                <a:endCxn id="5" idx="4"/>
              </p:cNvCxnSpPr>
              <p:nvPr/>
            </p:nvCxnSpPr>
            <p:spPr>
              <a:xfrm flipV="1">
                <a:off x="4799686" y="4373589"/>
                <a:ext cx="0" cy="397401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/>
              <p:cNvCxnSpPr>
                <a:endCxn id="6" idx="4"/>
              </p:cNvCxnSpPr>
              <p:nvPr/>
            </p:nvCxnSpPr>
            <p:spPr>
              <a:xfrm flipV="1">
                <a:off x="5910874" y="4373589"/>
                <a:ext cx="0" cy="397401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/>
              <p:cNvCxnSpPr>
                <a:endCxn id="7" idx="4"/>
              </p:cNvCxnSpPr>
              <p:nvPr/>
            </p:nvCxnSpPr>
            <p:spPr>
              <a:xfrm flipV="1">
                <a:off x="7022062" y="4373589"/>
                <a:ext cx="0" cy="397401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/>
              <p:cNvCxnSpPr>
                <a:endCxn id="8" idx="4"/>
              </p:cNvCxnSpPr>
              <p:nvPr/>
            </p:nvCxnSpPr>
            <p:spPr>
              <a:xfrm flipV="1">
                <a:off x="8133250" y="4373589"/>
                <a:ext cx="0" cy="397401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" name="文本框 18"/>
              <p:cNvSpPr txBox="1"/>
              <p:nvPr/>
            </p:nvSpPr>
            <p:spPr>
              <a:xfrm>
                <a:off x="3209101" y="4867114"/>
                <a:ext cx="11232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/>
                  <a:t>观测序列</a:t>
                </a:r>
                <a:endParaRPr lang="zh-CN" altLang="en-US" b="1" dirty="0"/>
              </a:p>
            </p:txBody>
          </p:sp>
          <p:sp>
            <p:nvSpPr>
              <p:cNvPr id="20" name="文本框 19"/>
              <p:cNvSpPr txBox="1"/>
              <p:nvPr/>
            </p:nvSpPr>
            <p:spPr>
              <a:xfrm>
                <a:off x="3209101" y="3970386"/>
                <a:ext cx="11232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/>
                  <a:t>标注序列</a:t>
                </a:r>
                <a:endParaRPr lang="zh-CN" altLang="en-US" b="1" dirty="0"/>
              </a:p>
            </p:txBody>
          </p:sp>
          <p:cxnSp>
            <p:nvCxnSpPr>
              <p:cNvPr id="22" name="直接连接符 21"/>
              <p:cNvCxnSpPr>
                <a:stCxn id="5" idx="6"/>
                <a:endCxn id="6" idx="2"/>
              </p:cNvCxnSpPr>
              <p:nvPr/>
            </p:nvCxnSpPr>
            <p:spPr>
              <a:xfrm>
                <a:off x="5021628" y="4141506"/>
                <a:ext cx="667304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/>
              <p:cNvCxnSpPr>
                <a:stCxn id="6" idx="6"/>
                <a:endCxn id="7" idx="2"/>
              </p:cNvCxnSpPr>
              <p:nvPr/>
            </p:nvCxnSpPr>
            <p:spPr>
              <a:xfrm>
                <a:off x="6132816" y="4141506"/>
                <a:ext cx="667304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/>
              <p:cNvCxnSpPr>
                <a:stCxn id="7" idx="6"/>
                <a:endCxn id="8" idx="2"/>
              </p:cNvCxnSpPr>
              <p:nvPr/>
            </p:nvCxnSpPr>
            <p:spPr>
              <a:xfrm>
                <a:off x="7244004" y="4141506"/>
                <a:ext cx="667304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7" name="矩形 26"/>
              <p:cNvSpPr/>
              <p:nvPr/>
            </p:nvSpPr>
            <p:spPr>
              <a:xfrm rot="5400000">
                <a:off x="5095432" y="4230554"/>
                <a:ext cx="1651250" cy="603682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  <a:prstDash val="dash"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矩形 27"/>
              <p:cNvSpPr/>
              <p:nvPr/>
            </p:nvSpPr>
            <p:spPr>
              <a:xfrm>
                <a:off x="4403891" y="3842373"/>
                <a:ext cx="1902778" cy="603682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  <a:prstDash val="dash"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文本框 29"/>
                <p:cNvSpPr txBox="1"/>
                <p:nvPr/>
              </p:nvSpPr>
              <p:spPr>
                <a:xfrm>
                  <a:off x="4602729" y="2717312"/>
                  <a:ext cx="1988029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dirty="0">
                      <a:solidFill>
                        <a:schemeClr val="tx1"/>
                      </a:solidFill>
                    </a:rPr>
                    <a:t>转移</a:t>
                  </a:r>
                  <a14:m>
                    <m:oMath xmlns:m="http://schemas.openxmlformats.org/officeDocument/2006/math">
                      <m:r>
                        <a:rPr lang="zh-CN" alt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特征</m:t>
                      </m:r>
                      <m:r>
                        <a:rPr lang="zh-CN" alt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函</m:t>
                      </m:r>
                      <m:r>
                        <a:rPr lang="zh-CN" alt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数</m:t>
                      </m:r>
                      <m:sSub>
                        <m:sSubPr>
                          <m:ctrlPr>
                            <a:rPr lang="zh-CN" altLang="en-US" i="1" dirty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zh-CN" altLang="en-US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 dirty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30" name="文本框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02729" y="2717312"/>
                  <a:ext cx="1988029" cy="646331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文本框 30"/>
                <p:cNvSpPr txBox="1"/>
                <p:nvPr/>
              </p:nvSpPr>
              <p:spPr>
                <a:xfrm>
                  <a:off x="5282613" y="5114726"/>
                  <a:ext cx="1988029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dirty="0"/>
                    <a:t>状态</a:t>
                  </a:r>
                  <a14:m>
                    <m:oMath xmlns:m="http://schemas.openxmlformats.org/officeDocument/2006/math">
                      <m:r>
                        <a:rPr lang="zh-CN" alt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特征</m:t>
                      </m:r>
                      <m:r>
                        <a:rPr lang="zh-CN" alt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函</m:t>
                      </m:r>
                      <m:r>
                        <a:rPr lang="zh-CN" alt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数</m:t>
                      </m:r>
                      <m:sSub>
                        <m:sSubPr>
                          <m:ctrlPr>
                            <a:rPr lang="zh-CN" altLang="en-US" i="1" dirty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31" name="文本框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82613" y="5114726"/>
                  <a:ext cx="1988029" cy="646331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3" name="文本框 32"/>
          <p:cNvSpPr txBox="1"/>
          <p:nvPr/>
        </p:nvSpPr>
        <p:spPr>
          <a:xfrm>
            <a:off x="7040845" y="2754125"/>
            <a:ext cx="3506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线性链条件随机场的参数化形式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本框 33"/>
              <p:cNvSpPr txBox="1"/>
              <p:nvPr/>
            </p:nvSpPr>
            <p:spPr>
              <a:xfrm>
                <a:off x="5845173" y="3316184"/>
                <a:ext cx="5898025" cy="6933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⁡(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4" name="文本框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5173" y="3316184"/>
                <a:ext cx="5898025" cy="693395"/>
              </a:xfrm>
              <a:prstGeom prst="rect">
                <a:avLst/>
              </a:prstGeom>
              <a:blipFill rotWithShape="1">
                <a:blip r:embed="rId4"/>
                <a:stretch>
                  <a:fillRect l="-11" t="-31" r="2" b="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文本框 34"/>
          <p:cNvSpPr txBox="1"/>
          <p:nvPr/>
        </p:nvSpPr>
        <p:spPr>
          <a:xfrm>
            <a:off x="8464020" y="4043450"/>
            <a:ext cx="1139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其中，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文本框 35"/>
              <p:cNvSpPr txBox="1"/>
              <p:nvPr/>
            </p:nvSpPr>
            <p:spPr>
              <a:xfrm>
                <a:off x="6014321" y="4474414"/>
                <a:ext cx="5559727" cy="7031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𝑍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  <m:sup/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𝑒𝑥𝑝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e>
                          </m:nary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6" name="文本框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4321" y="4474414"/>
                <a:ext cx="5559727" cy="703141"/>
              </a:xfrm>
              <a:prstGeom prst="rect">
                <a:avLst/>
              </a:prstGeom>
              <a:blipFill rotWithShape="1">
                <a:blip r:embed="rId5"/>
                <a:stretch>
                  <a:fillRect l="-4" t="-29" r="10" b="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文本框 36"/>
              <p:cNvSpPr txBox="1"/>
              <p:nvPr/>
            </p:nvSpPr>
            <p:spPr>
              <a:xfrm>
                <a:off x="5845173" y="5275639"/>
                <a:ext cx="6214662" cy="12957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zh-CN" altLang="en-US" dirty="0"/>
                  <a:t>为对应权值</a:t>
                </a:r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为</m:t>
                    </m:r>
                  </m:oMath>
                </a14:m>
                <a:r>
                  <a:rPr lang="zh-CN" altLang="en-US" dirty="0"/>
                  <a:t>特征函数：通常，满足特征条件取值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，否则为</a:t>
                </a:r>
                <a:r>
                  <a:rPr lang="en-US" altLang="zh-CN" dirty="0"/>
                  <a:t>0</a:t>
                </a:r>
                <a:endParaRPr lang="en-US" altLang="zh-CN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𝑍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dirty="0"/>
                  <a:t>为规范化因子：在所有可能的输出序列上求和</a:t>
                </a:r>
                <a:endParaRPr lang="zh-CN" altLang="en-US" dirty="0"/>
              </a:p>
            </p:txBody>
          </p:sp>
        </mc:Choice>
        <mc:Fallback>
          <p:sp>
            <p:nvSpPr>
              <p:cNvPr id="37" name="文本框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5173" y="5275639"/>
                <a:ext cx="6214662" cy="1295739"/>
              </a:xfrm>
              <a:prstGeom prst="rect">
                <a:avLst/>
              </a:prstGeom>
              <a:blipFill rotWithShape="1">
                <a:blip r:embed="rId6"/>
                <a:stretch>
                  <a:fillRect l="-10" t="-5" r="9" b="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语言分析</a:t>
            </a:r>
            <a:endParaRPr 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293087" y="1167185"/>
            <a:ext cx="11334702" cy="464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942093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任务实现：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传统机器学习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CRF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方法实现</a:t>
            </a:r>
            <a:endParaRPr kumimoji="0" lang="en-US" altLang="zh-CN" sz="2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27" name="组合 126"/>
          <p:cNvGrpSpPr/>
          <p:nvPr/>
        </p:nvGrpSpPr>
        <p:grpSpPr>
          <a:xfrm>
            <a:off x="963050" y="2090475"/>
            <a:ext cx="5092822" cy="3910434"/>
            <a:chOff x="2756340" y="2259150"/>
            <a:chExt cx="5092822" cy="3910434"/>
          </a:xfrm>
        </p:grpSpPr>
        <p:grpSp>
          <p:nvGrpSpPr>
            <p:cNvPr id="106" name="组合 105"/>
            <p:cNvGrpSpPr/>
            <p:nvPr/>
          </p:nvGrpSpPr>
          <p:grpSpPr>
            <a:xfrm>
              <a:off x="4071714" y="2259150"/>
              <a:ext cx="3777448" cy="3910434"/>
              <a:chOff x="4071714" y="2259150"/>
              <a:chExt cx="3777448" cy="3910434"/>
            </a:xfrm>
          </p:grpSpPr>
          <p:cxnSp>
            <p:nvCxnSpPr>
              <p:cNvPr id="52" name="直接连接符 51"/>
              <p:cNvCxnSpPr>
                <a:stCxn id="24" idx="6"/>
                <a:endCxn id="24" idx="6"/>
              </p:cNvCxnSpPr>
              <p:nvPr/>
            </p:nvCxnSpPr>
            <p:spPr>
              <a:xfrm>
                <a:off x="4515598" y="2491233"/>
                <a:ext cx="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7" name="组合 56"/>
              <p:cNvGrpSpPr/>
              <p:nvPr/>
            </p:nvGrpSpPr>
            <p:grpSpPr>
              <a:xfrm>
                <a:off x="4071714" y="2259150"/>
                <a:ext cx="3777448" cy="3910434"/>
                <a:chOff x="4054875" y="2491233"/>
                <a:chExt cx="3777448" cy="3910434"/>
              </a:xfrm>
            </p:grpSpPr>
            <p:grpSp>
              <p:nvGrpSpPr>
                <p:cNvPr id="44" name="组合 43"/>
                <p:cNvGrpSpPr/>
                <p:nvPr/>
              </p:nvGrpSpPr>
              <p:grpSpPr>
                <a:xfrm>
                  <a:off x="4054875" y="2491233"/>
                  <a:ext cx="3777448" cy="3048867"/>
                  <a:chOff x="2166151" y="2689934"/>
                  <a:chExt cx="3777448" cy="3048867"/>
                </a:xfrm>
              </p:grpSpPr>
              <p:grpSp>
                <p:nvGrpSpPr>
                  <p:cNvPr id="28" name="组合 27"/>
                  <p:cNvGrpSpPr/>
                  <p:nvPr/>
                </p:nvGrpSpPr>
                <p:grpSpPr>
                  <a:xfrm>
                    <a:off x="2166151" y="2689934"/>
                    <a:ext cx="443884" cy="3048867"/>
                    <a:chOff x="2166151" y="2689934"/>
                    <a:chExt cx="443884" cy="3048867"/>
                  </a:xfrm>
                </p:grpSpPr>
                <p:sp>
                  <p:nvSpPr>
                    <p:cNvPr id="24" name="流程图: 接点 23"/>
                    <p:cNvSpPr/>
                    <p:nvPr/>
                  </p:nvSpPr>
                  <p:spPr>
                    <a:xfrm>
                      <a:off x="2166151" y="2689934"/>
                      <a:ext cx="443884" cy="464166"/>
                    </a:xfrm>
                    <a:prstGeom prst="flowChartConnector">
                      <a:avLst/>
                    </a:prstGeom>
                  </p:spPr>
                  <p:style>
                    <a:lnRef idx="2">
                      <a:schemeClr val="accent5">
                        <a:shade val="50000"/>
                      </a:schemeClr>
                    </a:lnRef>
                    <a:fillRef idx="1">
                      <a:schemeClr val="accent5"/>
                    </a:fillRef>
                    <a:effectRef idx="0">
                      <a:schemeClr val="accent5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sz="1600" dirty="0"/>
                        <a:t>y</a:t>
                      </a:r>
                      <a:r>
                        <a:rPr lang="en-US" altLang="zh-CN" sz="500" dirty="0"/>
                        <a:t>1</a:t>
                      </a:r>
                      <a:endParaRPr lang="zh-CN" altLang="en-US" dirty="0"/>
                    </a:p>
                  </p:txBody>
                </p:sp>
                <p:sp>
                  <p:nvSpPr>
                    <p:cNvPr id="25" name="流程图: 接点 24"/>
                    <p:cNvSpPr/>
                    <p:nvPr/>
                  </p:nvSpPr>
                  <p:spPr>
                    <a:xfrm>
                      <a:off x="2166151" y="3551501"/>
                      <a:ext cx="443884" cy="464166"/>
                    </a:xfrm>
                    <a:prstGeom prst="flowChartConnector">
                      <a:avLst/>
                    </a:prstGeom>
                  </p:spPr>
                  <p:style>
                    <a:lnRef idx="2">
                      <a:schemeClr val="accent5">
                        <a:shade val="50000"/>
                      </a:schemeClr>
                    </a:lnRef>
                    <a:fillRef idx="1">
                      <a:schemeClr val="accent5"/>
                    </a:fillRef>
                    <a:effectRef idx="0">
                      <a:schemeClr val="accent5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dirty="0"/>
                        <a:t>O</a:t>
                      </a:r>
                      <a:endParaRPr lang="zh-CN" altLang="en-US" dirty="0"/>
                    </a:p>
                  </p:txBody>
                </p:sp>
                <p:sp>
                  <p:nvSpPr>
                    <p:cNvPr id="26" name="流程图: 接点 25"/>
                    <p:cNvSpPr/>
                    <p:nvPr/>
                  </p:nvSpPr>
                  <p:spPr>
                    <a:xfrm>
                      <a:off x="2166151" y="4413068"/>
                      <a:ext cx="443884" cy="464166"/>
                    </a:xfrm>
                    <a:prstGeom prst="flowChartConnector">
                      <a:avLst/>
                    </a:prstGeom>
                  </p:spPr>
                  <p:style>
                    <a:lnRef idx="2">
                      <a:schemeClr val="accent5">
                        <a:shade val="50000"/>
                      </a:schemeClr>
                    </a:lnRef>
                    <a:fillRef idx="1">
                      <a:schemeClr val="accent5"/>
                    </a:fillRef>
                    <a:effectRef idx="0">
                      <a:schemeClr val="accent5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dirty="0"/>
                        <a:t>I</a:t>
                      </a:r>
                      <a:endParaRPr lang="zh-CN" altLang="en-US" dirty="0"/>
                    </a:p>
                  </p:txBody>
                </p:sp>
                <p:sp>
                  <p:nvSpPr>
                    <p:cNvPr id="27" name="流程图: 接点 26"/>
                    <p:cNvSpPr/>
                    <p:nvPr/>
                  </p:nvSpPr>
                  <p:spPr>
                    <a:xfrm>
                      <a:off x="2166151" y="5274635"/>
                      <a:ext cx="443884" cy="464166"/>
                    </a:xfrm>
                    <a:prstGeom prst="flowChartConnector">
                      <a:avLst/>
                    </a:prstGeom>
                  </p:spPr>
                  <p:style>
                    <a:lnRef idx="2">
                      <a:schemeClr val="accent5">
                        <a:shade val="50000"/>
                      </a:schemeClr>
                    </a:lnRef>
                    <a:fillRef idx="1">
                      <a:schemeClr val="accent5"/>
                    </a:fillRef>
                    <a:effectRef idx="0">
                      <a:schemeClr val="accent5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dirty="0"/>
                        <a:t>B</a:t>
                      </a:r>
                      <a:endParaRPr lang="zh-CN" altLang="en-US" dirty="0"/>
                    </a:p>
                  </p:txBody>
                </p:sp>
              </p:grpSp>
              <p:grpSp>
                <p:nvGrpSpPr>
                  <p:cNvPr id="29" name="组合 28"/>
                  <p:cNvGrpSpPr/>
                  <p:nvPr/>
                </p:nvGrpSpPr>
                <p:grpSpPr>
                  <a:xfrm>
                    <a:off x="3277339" y="2689934"/>
                    <a:ext cx="443884" cy="3048867"/>
                    <a:chOff x="2166151" y="2689934"/>
                    <a:chExt cx="443884" cy="3048867"/>
                  </a:xfrm>
                </p:grpSpPr>
                <p:sp>
                  <p:nvSpPr>
                    <p:cNvPr id="30" name="流程图: 接点 29"/>
                    <p:cNvSpPr/>
                    <p:nvPr/>
                  </p:nvSpPr>
                  <p:spPr>
                    <a:xfrm>
                      <a:off x="2166151" y="2689934"/>
                      <a:ext cx="443884" cy="464166"/>
                    </a:xfrm>
                    <a:prstGeom prst="flowChartConnector">
                      <a:avLst/>
                    </a:prstGeom>
                  </p:spPr>
                  <p:style>
                    <a:lnRef idx="2">
                      <a:schemeClr val="accent5">
                        <a:shade val="50000"/>
                      </a:schemeClr>
                    </a:lnRef>
                    <a:fillRef idx="1">
                      <a:schemeClr val="accent5"/>
                    </a:fillRef>
                    <a:effectRef idx="0">
                      <a:schemeClr val="accent5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sz="1600" dirty="0"/>
                        <a:t>y</a:t>
                      </a:r>
                      <a:r>
                        <a:rPr lang="en-US" altLang="zh-CN" sz="500" dirty="0"/>
                        <a:t>2</a:t>
                      </a:r>
                      <a:endParaRPr lang="zh-CN" altLang="en-US" sz="1600" dirty="0"/>
                    </a:p>
                  </p:txBody>
                </p:sp>
                <p:sp>
                  <p:nvSpPr>
                    <p:cNvPr id="31" name="流程图: 接点 30"/>
                    <p:cNvSpPr/>
                    <p:nvPr/>
                  </p:nvSpPr>
                  <p:spPr>
                    <a:xfrm>
                      <a:off x="2166151" y="3551501"/>
                      <a:ext cx="443884" cy="464166"/>
                    </a:xfrm>
                    <a:prstGeom prst="flowChartConnector">
                      <a:avLst/>
                    </a:prstGeom>
                  </p:spPr>
                  <p:style>
                    <a:lnRef idx="2">
                      <a:schemeClr val="accent5">
                        <a:shade val="50000"/>
                      </a:schemeClr>
                    </a:lnRef>
                    <a:fillRef idx="1">
                      <a:schemeClr val="accent5"/>
                    </a:fillRef>
                    <a:effectRef idx="0">
                      <a:schemeClr val="accent5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dirty="0"/>
                        <a:t>O</a:t>
                      </a:r>
                      <a:endParaRPr lang="zh-CN" altLang="en-US" dirty="0"/>
                    </a:p>
                  </p:txBody>
                </p:sp>
                <p:sp>
                  <p:nvSpPr>
                    <p:cNvPr id="32" name="流程图: 接点 31"/>
                    <p:cNvSpPr/>
                    <p:nvPr/>
                  </p:nvSpPr>
                  <p:spPr>
                    <a:xfrm>
                      <a:off x="2166151" y="4413068"/>
                      <a:ext cx="443884" cy="464166"/>
                    </a:xfrm>
                    <a:prstGeom prst="flowChartConnector">
                      <a:avLst/>
                    </a:prstGeom>
                  </p:spPr>
                  <p:style>
                    <a:lnRef idx="2">
                      <a:schemeClr val="accent5">
                        <a:shade val="50000"/>
                      </a:schemeClr>
                    </a:lnRef>
                    <a:fillRef idx="1">
                      <a:schemeClr val="accent5"/>
                    </a:fillRef>
                    <a:effectRef idx="0">
                      <a:schemeClr val="accent5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dirty="0"/>
                        <a:t>I</a:t>
                      </a:r>
                      <a:endParaRPr lang="zh-CN" altLang="en-US" dirty="0"/>
                    </a:p>
                  </p:txBody>
                </p:sp>
                <p:sp>
                  <p:nvSpPr>
                    <p:cNvPr id="33" name="流程图: 接点 32"/>
                    <p:cNvSpPr/>
                    <p:nvPr/>
                  </p:nvSpPr>
                  <p:spPr>
                    <a:xfrm>
                      <a:off x="2166151" y="5274635"/>
                      <a:ext cx="443884" cy="464166"/>
                    </a:xfrm>
                    <a:prstGeom prst="flowChartConnector">
                      <a:avLst/>
                    </a:prstGeom>
                  </p:spPr>
                  <p:style>
                    <a:lnRef idx="2">
                      <a:schemeClr val="accent5">
                        <a:shade val="50000"/>
                      </a:schemeClr>
                    </a:lnRef>
                    <a:fillRef idx="1">
                      <a:schemeClr val="accent5"/>
                    </a:fillRef>
                    <a:effectRef idx="0">
                      <a:schemeClr val="accent5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dirty="0"/>
                        <a:t>B</a:t>
                      </a:r>
                      <a:endParaRPr lang="zh-CN" altLang="en-US" dirty="0"/>
                    </a:p>
                  </p:txBody>
                </p:sp>
              </p:grpSp>
              <p:grpSp>
                <p:nvGrpSpPr>
                  <p:cNvPr id="34" name="组合 33"/>
                  <p:cNvGrpSpPr/>
                  <p:nvPr/>
                </p:nvGrpSpPr>
                <p:grpSpPr>
                  <a:xfrm>
                    <a:off x="4388527" y="2689934"/>
                    <a:ext cx="443884" cy="3048867"/>
                    <a:chOff x="2166151" y="2689934"/>
                    <a:chExt cx="443884" cy="3048867"/>
                  </a:xfrm>
                </p:grpSpPr>
                <p:sp>
                  <p:nvSpPr>
                    <p:cNvPr id="35" name="流程图: 接点 34"/>
                    <p:cNvSpPr/>
                    <p:nvPr/>
                  </p:nvSpPr>
                  <p:spPr>
                    <a:xfrm>
                      <a:off x="2166151" y="2689934"/>
                      <a:ext cx="443884" cy="464166"/>
                    </a:xfrm>
                    <a:prstGeom prst="flowChartConnector">
                      <a:avLst/>
                    </a:prstGeom>
                  </p:spPr>
                  <p:style>
                    <a:lnRef idx="2">
                      <a:schemeClr val="accent5">
                        <a:shade val="50000"/>
                      </a:schemeClr>
                    </a:lnRef>
                    <a:fillRef idx="1">
                      <a:schemeClr val="accent5"/>
                    </a:fillRef>
                    <a:effectRef idx="0">
                      <a:schemeClr val="accent5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sz="1600" dirty="0"/>
                        <a:t>y</a:t>
                      </a:r>
                      <a:r>
                        <a:rPr lang="en-US" altLang="zh-CN" sz="500" dirty="0"/>
                        <a:t>3</a:t>
                      </a:r>
                      <a:endParaRPr lang="zh-CN" altLang="en-US" sz="1600" dirty="0"/>
                    </a:p>
                  </p:txBody>
                </p:sp>
                <p:sp>
                  <p:nvSpPr>
                    <p:cNvPr id="36" name="流程图: 接点 35"/>
                    <p:cNvSpPr/>
                    <p:nvPr/>
                  </p:nvSpPr>
                  <p:spPr>
                    <a:xfrm>
                      <a:off x="2166151" y="3551501"/>
                      <a:ext cx="443884" cy="464166"/>
                    </a:xfrm>
                    <a:prstGeom prst="flowChartConnector">
                      <a:avLst/>
                    </a:prstGeom>
                  </p:spPr>
                  <p:style>
                    <a:lnRef idx="2">
                      <a:schemeClr val="accent5">
                        <a:shade val="50000"/>
                      </a:schemeClr>
                    </a:lnRef>
                    <a:fillRef idx="1">
                      <a:schemeClr val="accent5"/>
                    </a:fillRef>
                    <a:effectRef idx="0">
                      <a:schemeClr val="accent5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dirty="0"/>
                        <a:t>O</a:t>
                      </a:r>
                      <a:endParaRPr lang="zh-CN" altLang="en-US" dirty="0"/>
                    </a:p>
                  </p:txBody>
                </p:sp>
                <p:sp>
                  <p:nvSpPr>
                    <p:cNvPr id="37" name="流程图: 接点 36"/>
                    <p:cNvSpPr/>
                    <p:nvPr/>
                  </p:nvSpPr>
                  <p:spPr>
                    <a:xfrm>
                      <a:off x="2166151" y="4413068"/>
                      <a:ext cx="443884" cy="464166"/>
                    </a:xfrm>
                    <a:prstGeom prst="flowChartConnector">
                      <a:avLst/>
                    </a:prstGeom>
                  </p:spPr>
                  <p:style>
                    <a:lnRef idx="2">
                      <a:schemeClr val="accent5">
                        <a:shade val="50000"/>
                      </a:schemeClr>
                    </a:lnRef>
                    <a:fillRef idx="1">
                      <a:schemeClr val="accent5"/>
                    </a:fillRef>
                    <a:effectRef idx="0">
                      <a:schemeClr val="accent5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dirty="0"/>
                        <a:t>I</a:t>
                      </a:r>
                      <a:endParaRPr lang="zh-CN" altLang="en-US" dirty="0"/>
                    </a:p>
                  </p:txBody>
                </p:sp>
                <p:sp>
                  <p:nvSpPr>
                    <p:cNvPr id="38" name="流程图: 接点 37"/>
                    <p:cNvSpPr/>
                    <p:nvPr/>
                  </p:nvSpPr>
                  <p:spPr>
                    <a:xfrm>
                      <a:off x="2166151" y="5274635"/>
                      <a:ext cx="443884" cy="464166"/>
                    </a:xfrm>
                    <a:prstGeom prst="flowChartConnector">
                      <a:avLst/>
                    </a:prstGeom>
                  </p:spPr>
                  <p:style>
                    <a:lnRef idx="2">
                      <a:schemeClr val="accent5">
                        <a:shade val="50000"/>
                      </a:schemeClr>
                    </a:lnRef>
                    <a:fillRef idx="1">
                      <a:schemeClr val="accent5"/>
                    </a:fillRef>
                    <a:effectRef idx="0">
                      <a:schemeClr val="accent5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dirty="0"/>
                        <a:t>B</a:t>
                      </a:r>
                      <a:endParaRPr lang="zh-CN" altLang="en-US" dirty="0"/>
                    </a:p>
                  </p:txBody>
                </p:sp>
              </p:grpSp>
              <p:grpSp>
                <p:nvGrpSpPr>
                  <p:cNvPr id="39" name="组合 38"/>
                  <p:cNvGrpSpPr/>
                  <p:nvPr/>
                </p:nvGrpSpPr>
                <p:grpSpPr>
                  <a:xfrm>
                    <a:off x="5499715" y="2689934"/>
                    <a:ext cx="443884" cy="3048867"/>
                    <a:chOff x="2166151" y="2689934"/>
                    <a:chExt cx="443884" cy="3048867"/>
                  </a:xfrm>
                </p:grpSpPr>
                <p:sp>
                  <p:nvSpPr>
                    <p:cNvPr id="40" name="流程图: 接点 39"/>
                    <p:cNvSpPr/>
                    <p:nvPr/>
                  </p:nvSpPr>
                  <p:spPr>
                    <a:xfrm>
                      <a:off x="2166151" y="2689934"/>
                      <a:ext cx="443884" cy="464166"/>
                    </a:xfrm>
                    <a:prstGeom prst="flowChartConnector">
                      <a:avLst/>
                    </a:prstGeom>
                  </p:spPr>
                  <p:style>
                    <a:lnRef idx="2">
                      <a:schemeClr val="accent5">
                        <a:shade val="50000"/>
                      </a:schemeClr>
                    </a:lnRef>
                    <a:fillRef idx="1">
                      <a:schemeClr val="accent5"/>
                    </a:fillRef>
                    <a:effectRef idx="0">
                      <a:schemeClr val="accent5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sz="1600" dirty="0"/>
                        <a:t>y</a:t>
                      </a:r>
                      <a:r>
                        <a:rPr lang="en-US" altLang="zh-CN" sz="500" dirty="0"/>
                        <a:t>4</a:t>
                      </a:r>
                      <a:endParaRPr lang="zh-CN" altLang="en-US" sz="1600" dirty="0"/>
                    </a:p>
                  </p:txBody>
                </p:sp>
                <p:sp>
                  <p:nvSpPr>
                    <p:cNvPr id="41" name="流程图: 接点 40"/>
                    <p:cNvSpPr/>
                    <p:nvPr/>
                  </p:nvSpPr>
                  <p:spPr>
                    <a:xfrm>
                      <a:off x="2166151" y="3551501"/>
                      <a:ext cx="443884" cy="464166"/>
                    </a:xfrm>
                    <a:prstGeom prst="flowChartConnector">
                      <a:avLst/>
                    </a:prstGeom>
                  </p:spPr>
                  <p:style>
                    <a:lnRef idx="2">
                      <a:schemeClr val="accent5">
                        <a:shade val="50000"/>
                      </a:schemeClr>
                    </a:lnRef>
                    <a:fillRef idx="1">
                      <a:schemeClr val="accent5"/>
                    </a:fillRef>
                    <a:effectRef idx="0">
                      <a:schemeClr val="accent5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dirty="0"/>
                        <a:t>O</a:t>
                      </a:r>
                      <a:endParaRPr lang="zh-CN" altLang="en-US" dirty="0"/>
                    </a:p>
                  </p:txBody>
                </p:sp>
                <p:sp>
                  <p:nvSpPr>
                    <p:cNvPr id="42" name="流程图: 接点 41"/>
                    <p:cNvSpPr/>
                    <p:nvPr/>
                  </p:nvSpPr>
                  <p:spPr>
                    <a:xfrm>
                      <a:off x="2166151" y="4413068"/>
                      <a:ext cx="443884" cy="464166"/>
                    </a:xfrm>
                    <a:prstGeom prst="flowChartConnector">
                      <a:avLst/>
                    </a:prstGeom>
                  </p:spPr>
                  <p:style>
                    <a:lnRef idx="2">
                      <a:schemeClr val="accent5">
                        <a:shade val="50000"/>
                      </a:schemeClr>
                    </a:lnRef>
                    <a:fillRef idx="1">
                      <a:schemeClr val="accent5"/>
                    </a:fillRef>
                    <a:effectRef idx="0">
                      <a:schemeClr val="accent5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dirty="0"/>
                        <a:t>I</a:t>
                      </a:r>
                      <a:endParaRPr lang="zh-CN" altLang="en-US" dirty="0"/>
                    </a:p>
                  </p:txBody>
                </p:sp>
                <p:sp>
                  <p:nvSpPr>
                    <p:cNvPr id="43" name="流程图: 接点 42"/>
                    <p:cNvSpPr/>
                    <p:nvPr/>
                  </p:nvSpPr>
                  <p:spPr>
                    <a:xfrm>
                      <a:off x="2166151" y="5274635"/>
                      <a:ext cx="443884" cy="464166"/>
                    </a:xfrm>
                    <a:prstGeom prst="flowChartConnector">
                      <a:avLst/>
                    </a:prstGeom>
                  </p:spPr>
                  <p:style>
                    <a:lnRef idx="2">
                      <a:schemeClr val="accent5">
                        <a:shade val="50000"/>
                      </a:schemeClr>
                    </a:lnRef>
                    <a:fillRef idx="1">
                      <a:schemeClr val="accent5"/>
                    </a:fillRef>
                    <a:effectRef idx="0">
                      <a:schemeClr val="accent5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dirty="0"/>
                        <a:t>B</a:t>
                      </a:r>
                      <a:endParaRPr lang="zh-CN" altLang="en-US" dirty="0"/>
                    </a:p>
                  </p:txBody>
                </p:sp>
              </p:grpSp>
            </p:grpSp>
            <p:sp>
              <p:nvSpPr>
                <p:cNvPr id="53" name="流程图: 接点 52"/>
                <p:cNvSpPr/>
                <p:nvPr/>
              </p:nvSpPr>
              <p:spPr>
                <a:xfrm>
                  <a:off x="4054875" y="5937501"/>
                  <a:ext cx="443884" cy="464166"/>
                </a:xfrm>
                <a:prstGeom prst="flowChartConnector">
                  <a:avLst/>
                </a:prstGeom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/>
                    <a:t>x</a:t>
                  </a:r>
                  <a:r>
                    <a:rPr lang="en-US" altLang="zh-CN" sz="500" dirty="0"/>
                    <a:t>1</a:t>
                  </a:r>
                  <a:endParaRPr lang="zh-CN" altLang="en-US" dirty="0"/>
                </a:p>
              </p:txBody>
            </p:sp>
            <p:sp>
              <p:nvSpPr>
                <p:cNvPr id="54" name="流程图: 接点 53"/>
                <p:cNvSpPr/>
                <p:nvPr/>
              </p:nvSpPr>
              <p:spPr>
                <a:xfrm>
                  <a:off x="5166063" y="5937501"/>
                  <a:ext cx="443884" cy="464166"/>
                </a:xfrm>
                <a:prstGeom prst="flowChartConnector">
                  <a:avLst/>
                </a:prstGeom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/>
                    <a:t>x</a:t>
                  </a:r>
                  <a:r>
                    <a:rPr lang="en-US" altLang="zh-CN" sz="500" dirty="0"/>
                    <a:t>2</a:t>
                  </a:r>
                  <a:endParaRPr lang="zh-CN" altLang="en-US" dirty="0"/>
                </a:p>
              </p:txBody>
            </p:sp>
            <p:sp>
              <p:nvSpPr>
                <p:cNvPr id="55" name="流程图: 接点 54"/>
                <p:cNvSpPr/>
                <p:nvPr/>
              </p:nvSpPr>
              <p:spPr>
                <a:xfrm>
                  <a:off x="6277251" y="5937501"/>
                  <a:ext cx="443884" cy="464166"/>
                </a:xfrm>
                <a:prstGeom prst="flowChartConnector">
                  <a:avLst/>
                </a:prstGeom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/>
                    <a:t>x</a:t>
                  </a:r>
                  <a:r>
                    <a:rPr lang="en-US" altLang="zh-CN" sz="500" dirty="0"/>
                    <a:t>3</a:t>
                  </a:r>
                  <a:endParaRPr lang="zh-CN" altLang="en-US" dirty="0"/>
                </a:p>
              </p:txBody>
            </p:sp>
            <p:sp>
              <p:nvSpPr>
                <p:cNvPr id="56" name="流程图: 接点 55"/>
                <p:cNvSpPr/>
                <p:nvPr/>
              </p:nvSpPr>
              <p:spPr>
                <a:xfrm>
                  <a:off x="7388439" y="5937501"/>
                  <a:ext cx="443884" cy="464166"/>
                </a:xfrm>
                <a:prstGeom prst="flowChartConnector">
                  <a:avLst/>
                </a:prstGeom>
              </p:spPr>
              <p:style>
                <a:lnRef idx="2">
                  <a:schemeClr val="accent5">
                    <a:shade val="50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dirty="0"/>
                    <a:t>x</a:t>
                  </a:r>
                  <a:r>
                    <a:rPr lang="en-US" altLang="zh-CN" sz="500" dirty="0"/>
                    <a:t>4</a:t>
                  </a:r>
                  <a:endParaRPr lang="zh-CN" altLang="en-US" dirty="0"/>
                </a:p>
              </p:txBody>
            </p:sp>
          </p:grpSp>
          <p:cxnSp>
            <p:nvCxnSpPr>
              <p:cNvPr id="63" name="直接连接符 62"/>
              <p:cNvCxnSpPr>
                <a:stCxn id="25" idx="6"/>
                <a:endCxn id="32" idx="2"/>
              </p:cNvCxnSpPr>
              <p:nvPr/>
            </p:nvCxnSpPr>
            <p:spPr>
              <a:xfrm>
                <a:off x="4515598" y="3352800"/>
                <a:ext cx="667304" cy="861567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/>
              <p:cNvCxnSpPr>
                <a:stCxn id="25" idx="6"/>
                <a:endCxn id="33" idx="2"/>
              </p:cNvCxnSpPr>
              <p:nvPr/>
            </p:nvCxnSpPr>
            <p:spPr>
              <a:xfrm>
                <a:off x="4515598" y="3352800"/>
                <a:ext cx="667304" cy="1723134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/>
              <p:cNvCxnSpPr>
                <a:stCxn id="26" idx="6"/>
                <a:endCxn id="31" idx="2"/>
              </p:cNvCxnSpPr>
              <p:nvPr/>
            </p:nvCxnSpPr>
            <p:spPr>
              <a:xfrm flipV="1">
                <a:off x="4515598" y="3352800"/>
                <a:ext cx="667304" cy="861567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/>
              <p:cNvCxnSpPr>
                <a:stCxn id="27" idx="6"/>
                <a:endCxn id="32" idx="2"/>
              </p:cNvCxnSpPr>
              <p:nvPr/>
            </p:nvCxnSpPr>
            <p:spPr>
              <a:xfrm flipV="1">
                <a:off x="4515598" y="4214367"/>
                <a:ext cx="667304" cy="861567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77" name="组合 76"/>
              <p:cNvGrpSpPr/>
              <p:nvPr/>
            </p:nvGrpSpPr>
            <p:grpSpPr>
              <a:xfrm>
                <a:off x="4515598" y="3352800"/>
                <a:ext cx="667304" cy="1723134"/>
                <a:chOff x="4515598" y="3352800"/>
                <a:chExt cx="667304" cy="1723134"/>
              </a:xfrm>
            </p:grpSpPr>
            <p:cxnSp>
              <p:nvCxnSpPr>
                <p:cNvPr id="59" name="直接连接符 58"/>
                <p:cNvCxnSpPr>
                  <a:stCxn id="25" idx="6"/>
                  <a:endCxn id="31" idx="2"/>
                </p:cNvCxnSpPr>
                <p:nvPr/>
              </p:nvCxnSpPr>
              <p:spPr>
                <a:xfrm>
                  <a:off x="4515598" y="3352800"/>
                  <a:ext cx="667304" cy="0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直接连接符 60"/>
                <p:cNvCxnSpPr>
                  <a:stCxn id="26" idx="6"/>
                  <a:endCxn id="32" idx="2"/>
                </p:cNvCxnSpPr>
                <p:nvPr/>
              </p:nvCxnSpPr>
              <p:spPr>
                <a:xfrm>
                  <a:off x="4515598" y="4214367"/>
                  <a:ext cx="667304" cy="0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直接连接符 68"/>
                <p:cNvCxnSpPr>
                  <a:stCxn id="26" idx="6"/>
                  <a:endCxn id="33" idx="2"/>
                </p:cNvCxnSpPr>
                <p:nvPr/>
              </p:nvCxnSpPr>
              <p:spPr>
                <a:xfrm>
                  <a:off x="4515598" y="4214367"/>
                  <a:ext cx="667304" cy="861567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直接连接符 70"/>
                <p:cNvCxnSpPr>
                  <a:stCxn id="27" idx="6"/>
                  <a:endCxn id="33" idx="2"/>
                </p:cNvCxnSpPr>
                <p:nvPr/>
              </p:nvCxnSpPr>
              <p:spPr>
                <a:xfrm>
                  <a:off x="4515598" y="5075934"/>
                  <a:ext cx="667304" cy="0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直接连接符 74"/>
                <p:cNvCxnSpPr>
                  <a:stCxn id="27" idx="6"/>
                  <a:endCxn id="31" idx="2"/>
                </p:cNvCxnSpPr>
                <p:nvPr/>
              </p:nvCxnSpPr>
              <p:spPr>
                <a:xfrm flipV="1">
                  <a:off x="4515598" y="3352800"/>
                  <a:ext cx="667304" cy="1723134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8" name="组合 77"/>
              <p:cNvGrpSpPr/>
              <p:nvPr/>
            </p:nvGrpSpPr>
            <p:grpSpPr>
              <a:xfrm>
                <a:off x="5626786" y="3356625"/>
                <a:ext cx="667304" cy="1723134"/>
                <a:chOff x="4515598" y="3352800"/>
                <a:chExt cx="667304" cy="1723134"/>
              </a:xfrm>
            </p:grpSpPr>
            <p:cxnSp>
              <p:nvCxnSpPr>
                <p:cNvPr id="79" name="直接连接符 78"/>
                <p:cNvCxnSpPr/>
                <p:nvPr/>
              </p:nvCxnSpPr>
              <p:spPr>
                <a:xfrm>
                  <a:off x="4515598" y="3352800"/>
                  <a:ext cx="667304" cy="0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直接连接符 79"/>
                <p:cNvCxnSpPr/>
                <p:nvPr/>
              </p:nvCxnSpPr>
              <p:spPr>
                <a:xfrm>
                  <a:off x="4515598" y="4214367"/>
                  <a:ext cx="667304" cy="0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直接连接符 80"/>
                <p:cNvCxnSpPr/>
                <p:nvPr/>
              </p:nvCxnSpPr>
              <p:spPr>
                <a:xfrm>
                  <a:off x="4515598" y="4214367"/>
                  <a:ext cx="667304" cy="861567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直接连接符 81"/>
                <p:cNvCxnSpPr/>
                <p:nvPr/>
              </p:nvCxnSpPr>
              <p:spPr>
                <a:xfrm>
                  <a:off x="4515598" y="5075934"/>
                  <a:ext cx="667304" cy="0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直接连接符 82"/>
                <p:cNvCxnSpPr/>
                <p:nvPr/>
              </p:nvCxnSpPr>
              <p:spPr>
                <a:xfrm flipV="1">
                  <a:off x="4515598" y="3352800"/>
                  <a:ext cx="667304" cy="1723134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4" name="组合 83"/>
              <p:cNvGrpSpPr/>
              <p:nvPr/>
            </p:nvGrpSpPr>
            <p:grpSpPr>
              <a:xfrm>
                <a:off x="6754072" y="3352800"/>
                <a:ext cx="667304" cy="1723134"/>
                <a:chOff x="4515598" y="3352800"/>
                <a:chExt cx="667304" cy="1723134"/>
              </a:xfrm>
            </p:grpSpPr>
            <p:cxnSp>
              <p:nvCxnSpPr>
                <p:cNvPr id="85" name="直接连接符 84"/>
                <p:cNvCxnSpPr/>
                <p:nvPr/>
              </p:nvCxnSpPr>
              <p:spPr>
                <a:xfrm>
                  <a:off x="4515598" y="3352800"/>
                  <a:ext cx="667304" cy="0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直接连接符 85"/>
                <p:cNvCxnSpPr/>
                <p:nvPr/>
              </p:nvCxnSpPr>
              <p:spPr>
                <a:xfrm>
                  <a:off x="4515598" y="4214367"/>
                  <a:ext cx="667304" cy="0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直接连接符 86"/>
                <p:cNvCxnSpPr/>
                <p:nvPr/>
              </p:nvCxnSpPr>
              <p:spPr>
                <a:xfrm>
                  <a:off x="4515598" y="4214367"/>
                  <a:ext cx="667304" cy="861567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直接连接符 87"/>
                <p:cNvCxnSpPr/>
                <p:nvPr/>
              </p:nvCxnSpPr>
              <p:spPr>
                <a:xfrm>
                  <a:off x="4515598" y="5075934"/>
                  <a:ext cx="667304" cy="0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直接连接符 88"/>
                <p:cNvCxnSpPr/>
                <p:nvPr/>
              </p:nvCxnSpPr>
              <p:spPr>
                <a:xfrm flipV="1">
                  <a:off x="4515598" y="3352800"/>
                  <a:ext cx="667304" cy="1723134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91" name="直接连接符 90"/>
              <p:cNvCxnSpPr>
                <a:stCxn id="31" idx="6"/>
                <a:endCxn id="37" idx="2"/>
              </p:cNvCxnSpPr>
              <p:nvPr/>
            </p:nvCxnSpPr>
            <p:spPr>
              <a:xfrm>
                <a:off x="5626786" y="3352800"/>
                <a:ext cx="667304" cy="861567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3" name="直接连接符 92"/>
              <p:cNvCxnSpPr>
                <a:stCxn id="31" idx="6"/>
                <a:endCxn id="38" idx="2"/>
              </p:cNvCxnSpPr>
              <p:nvPr/>
            </p:nvCxnSpPr>
            <p:spPr>
              <a:xfrm>
                <a:off x="5626786" y="3352800"/>
                <a:ext cx="667304" cy="1723134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直接连接符 94"/>
              <p:cNvCxnSpPr>
                <a:stCxn id="32" idx="6"/>
                <a:endCxn id="36" idx="2"/>
              </p:cNvCxnSpPr>
              <p:nvPr/>
            </p:nvCxnSpPr>
            <p:spPr>
              <a:xfrm flipV="1">
                <a:off x="5626786" y="3352800"/>
                <a:ext cx="667304" cy="861567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直接连接符 96"/>
              <p:cNvCxnSpPr>
                <a:stCxn id="33" idx="6"/>
                <a:endCxn id="37" idx="2"/>
              </p:cNvCxnSpPr>
              <p:nvPr/>
            </p:nvCxnSpPr>
            <p:spPr>
              <a:xfrm flipV="1">
                <a:off x="5626786" y="4214367"/>
                <a:ext cx="667304" cy="861567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直接连接符 98"/>
              <p:cNvCxnSpPr>
                <a:stCxn id="36" idx="6"/>
                <a:endCxn id="42" idx="2"/>
              </p:cNvCxnSpPr>
              <p:nvPr/>
            </p:nvCxnSpPr>
            <p:spPr>
              <a:xfrm>
                <a:off x="6737974" y="3352800"/>
                <a:ext cx="667304" cy="861567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直接连接符 100"/>
              <p:cNvCxnSpPr>
                <a:stCxn id="36" idx="6"/>
                <a:endCxn id="43" idx="2"/>
              </p:cNvCxnSpPr>
              <p:nvPr/>
            </p:nvCxnSpPr>
            <p:spPr>
              <a:xfrm>
                <a:off x="6737974" y="3352800"/>
                <a:ext cx="667304" cy="1723134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直接连接符 102"/>
              <p:cNvCxnSpPr>
                <a:stCxn id="37" idx="6"/>
                <a:endCxn id="41" idx="2"/>
              </p:cNvCxnSpPr>
              <p:nvPr/>
            </p:nvCxnSpPr>
            <p:spPr>
              <a:xfrm flipV="1">
                <a:off x="6737974" y="3352800"/>
                <a:ext cx="667304" cy="861567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5" name="直接连接符 104"/>
              <p:cNvCxnSpPr>
                <a:stCxn id="38" idx="6"/>
                <a:endCxn id="42" idx="2"/>
              </p:cNvCxnSpPr>
              <p:nvPr/>
            </p:nvCxnSpPr>
            <p:spPr>
              <a:xfrm flipV="1">
                <a:off x="6737974" y="4214367"/>
                <a:ext cx="667304" cy="861567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07" name="文本框 106"/>
            <p:cNvSpPr txBox="1"/>
            <p:nvPr/>
          </p:nvSpPr>
          <p:spPr>
            <a:xfrm>
              <a:off x="2756340" y="5752835"/>
              <a:ext cx="11232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观测序列</a:t>
              </a:r>
              <a:endParaRPr lang="zh-CN" altLang="en-US" b="1" dirty="0"/>
            </a:p>
          </p:txBody>
        </p:sp>
        <p:sp>
          <p:nvSpPr>
            <p:cNvPr id="108" name="文本框 107"/>
            <p:cNvSpPr txBox="1"/>
            <p:nvPr/>
          </p:nvSpPr>
          <p:spPr>
            <a:xfrm>
              <a:off x="2756340" y="2310349"/>
              <a:ext cx="11232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标注序列</a:t>
              </a:r>
              <a:endParaRPr lang="zh-CN" altLang="en-US" b="1" dirty="0"/>
            </a:p>
          </p:txBody>
        </p:sp>
        <p:cxnSp>
          <p:nvCxnSpPr>
            <p:cNvPr id="112" name="直接连接符 111"/>
            <p:cNvCxnSpPr>
              <a:stCxn id="25" idx="0"/>
              <a:endCxn id="24" idx="4"/>
            </p:cNvCxnSpPr>
            <p:nvPr/>
          </p:nvCxnSpPr>
          <p:spPr>
            <a:xfrm flipV="1">
              <a:off x="4293656" y="2723316"/>
              <a:ext cx="0" cy="397401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4" name="直接连接符 113"/>
            <p:cNvCxnSpPr>
              <a:stCxn id="53" idx="0"/>
              <a:endCxn id="27" idx="4"/>
            </p:cNvCxnSpPr>
            <p:nvPr/>
          </p:nvCxnSpPr>
          <p:spPr>
            <a:xfrm flipV="1">
              <a:off x="4293656" y="5308017"/>
              <a:ext cx="0" cy="397401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6" name="直接连接符 115"/>
            <p:cNvCxnSpPr>
              <a:stCxn id="31" idx="0"/>
              <a:endCxn id="30" idx="4"/>
            </p:cNvCxnSpPr>
            <p:nvPr/>
          </p:nvCxnSpPr>
          <p:spPr>
            <a:xfrm flipV="1">
              <a:off x="5404844" y="2723316"/>
              <a:ext cx="0" cy="397401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8" name="直接连接符 117"/>
            <p:cNvCxnSpPr>
              <a:stCxn id="36" idx="0"/>
              <a:endCxn id="35" idx="4"/>
            </p:cNvCxnSpPr>
            <p:nvPr/>
          </p:nvCxnSpPr>
          <p:spPr>
            <a:xfrm flipV="1">
              <a:off x="6516032" y="2723316"/>
              <a:ext cx="0" cy="397401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20" name="直接连接符 119"/>
            <p:cNvCxnSpPr>
              <a:stCxn id="41" idx="0"/>
              <a:endCxn id="40" idx="4"/>
            </p:cNvCxnSpPr>
            <p:nvPr/>
          </p:nvCxnSpPr>
          <p:spPr>
            <a:xfrm flipV="1">
              <a:off x="7627220" y="2723316"/>
              <a:ext cx="0" cy="397401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22" name="直接连接符 121"/>
            <p:cNvCxnSpPr>
              <a:stCxn id="54" idx="0"/>
              <a:endCxn id="33" idx="4"/>
            </p:cNvCxnSpPr>
            <p:nvPr/>
          </p:nvCxnSpPr>
          <p:spPr>
            <a:xfrm flipV="1">
              <a:off x="5404844" y="5308017"/>
              <a:ext cx="0" cy="397401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24" name="直接连接符 123"/>
            <p:cNvCxnSpPr>
              <a:stCxn id="55" idx="0"/>
              <a:endCxn id="38" idx="4"/>
            </p:cNvCxnSpPr>
            <p:nvPr/>
          </p:nvCxnSpPr>
          <p:spPr>
            <a:xfrm flipV="1">
              <a:off x="6516032" y="5308017"/>
              <a:ext cx="0" cy="397401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26" name="直接连接符 125"/>
            <p:cNvCxnSpPr>
              <a:stCxn id="56" idx="0"/>
              <a:endCxn id="43" idx="4"/>
            </p:cNvCxnSpPr>
            <p:nvPr/>
          </p:nvCxnSpPr>
          <p:spPr>
            <a:xfrm flipV="1">
              <a:off x="7627220" y="5308017"/>
              <a:ext cx="0" cy="397401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" name="文本框 3"/>
          <p:cNvSpPr txBox="1"/>
          <p:nvPr/>
        </p:nvSpPr>
        <p:spPr>
          <a:xfrm>
            <a:off x="6335697" y="2952042"/>
            <a:ext cx="6094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B</a:t>
            </a:r>
            <a:endParaRPr lang="zh-CN" altLang="en-US" sz="24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6407345" y="3829669"/>
            <a:ext cx="6094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I</a:t>
            </a:r>
            <a:endParaRPr lang="zh-CN" altLang="en-US" sz="24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6335697" y="4707296"/>
            <a:ext cx="6094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O</a:t>
            </a:r>
            <a:endParaRPr lang="zh-CN" altLang="en-US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7144365" y="2129401"/>
                <a:ext cx="4324281" cy="9609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𝑍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为规范化因子：标注长度为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  <a:r>
                  <a:rPr lang="zh-CN" altLang="en-US" sz="20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，序列长度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为</a:t>
                </a:r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，因此共有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条路径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4365" y="2129401"/>
                <a:ext cx="4324281" cy="960904"/>
              </a:xfrm>
              <a:prstGeom prst="rect">
                <a:avLst/>
              </a:prstGeom>
              <a:blipFill rotWithShape="1">
                <a:blip r:embed="rId1"/>
                <a:stretch>
                  <a:fillRect l="-14" t="-26" r="13" b="-17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思想气泡: 云 7"/>
          <p:cNvSpPr/>
          <p:nvPr/>
        </p:nvSpPr>
        <p:spPr>
          <a:xfrm>
            <a:off x="8431627" y="3639007"/>
            <a:ext cx="1375416" cy="686553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思考点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7582334" y="4984851"/>
            <a:ext cx="35680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列举出所有可能的路径并计算得分，效率问题？有没有更好的方法？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语言分析</a:t>
            </a:r>
            <a:endParaRPr 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293087" y="1167185"/>
            <a:ext cx="11334702" cy="464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942093"/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任务实现：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LSTM-CRF</a:t>
            </a:r>
            <a:endParaRPr kumimoji="0" lang="en-US" altLang="zh-CN" sz="2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166643" y="2826708"/>
            <a:ext cx="3045856" cy="2951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LSTM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做特征提取，虽然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LSTM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可以直接预测每个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token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的标注标签概率，但因每个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token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标签的预测是相互独立的，无法学习到标注标签间的转移依赖，因此结合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CRF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思想气泡: 云 4"/>
          <p:cNvSpPr/>
          <p:nvPr/>
        </p:nvSpPr>
        <p:spPr>
          <a:xfrm>
            <a:off x="8925995" y="1199200"/>
            <a:ext cx="1375416" cy="686553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思考点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8166642" y="2113398"/>
            <a:ext cx="2894121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为什么结合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LSTM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CRF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3" name="组合 92"/>
          <p:cNvGrpSpPr/>
          <p:nvPr/>
        </p:nvGrpSpPr>
        <p:grpSpPr>
          <a:xfrm>
            <a:off x="1525949" y="1885753"/>
            <a:ext cx="4834202" cy="4362282"/>
            <a:chOff x="1002313" y="2067411"/>
            <a:chExt cx="4834202" cy="4362282"/>
          </a:xfrm>
        </p:grpSpPr>
        <p:sp>
          <p:nvSpPr>
            <p:cNvPr id="52" name="矩形 51"/>
            <p:cNvSpPr/>
            <p:nvPr/>
          </p:nvSpPr>
          <p:spPr>
            <a:xfrm>
              <a:off x="1276350" y="4362450"/>
              <a:ext cx="4352925" cy="1524000"/>
            </a:xfrm>
            <a:prstGeom prst="rect">
              <a:avLst/>
            </a:prstGeom>
            <a:ln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流程图: 接点 10"/>
            <p:cNvSpPr/>
            <p:nvPr/>
          </p:nvSpPr>
          <p:spPr>
            <a:xfrm>
              <a:off x="1525949" y="5965527"/>
              <a:ext cx="443884" cy="464166"/>
            </a:xfrm>
            <a:prstGeom prst="flowChartConnector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x</a:t>
              </a:r>
              <a:r>
                <a:rPr lang="en-US" altLang="zh-CN" sz="500" dirty="0"/>
                <a:t>1</a:t>
              </a:r>
              <a:endParaRPr lang="zh-CN" altLang="en-US" dirty="0"/>
            </a:p>
          </p:txBody>
        </p:sp>
        <p:sp>
          <p:nvSpPr>
            <p:cNvPr id="12" name="流程图: 接点 11"/>
            <p:cNvSpPr/>
            <p:nvPr/>
          </p:nvSpPr>
          <p:spPr>
            <a:xfrm>
              <a:off x="2637137" y="5965527"/>
              <a:ext cx="443884" cy="464166"/>
            </a:xfrm>
            <a:prstGeom prst="flowChartConnector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x</a:t>
              </a:r>
              <a:r>
                <a:rPr lang="en-US" altLang="zh-CN" sz="500" dirty="0"/>
                <a:t>2</a:t>
              </a:r>
              <a:endParaRPr lang="zh-CN" altLang="en-US" dirty="0"/>
            </a:p>
          </p:txBody>
        </p:sp>
        <p:sp>
          <p:nvSpPr>
            <p:cNvPr id="13" name="流程图: 接点 12"/>
            <p:cNvSpPr/>
            <p:nvPr/>
          </p:nvSpPr>
          <p:spPr>
            <a:xfrm>
              <a:off x="3748325" y="5965527"/>
              <a:ext cx="443884" cy="464166"/>
            </a:xfrm>
            <a:prstGeom prst="flowChartConnector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x</a:t>
              </a:r>
              <a:r>
                <a:rPr lang="en-US" altLang="zh-CN" sz="500" dirty="0"/>
                <a:t>3</a:t>
              </a:r>
              <a:endParaRPr lang="zh-CN" altLang="en-US" dirty="0"/>
            </a:p>
          </p:txBody>
        </p:sp>
        <p:sp>
          <p:nvSpPr>
            <p:cNvPr id="14" name="流程图: 接点 13"/>
            <p:cNvSpPr/>
            <p:nvPr/>
          </p:nvSpPr>
          <p:spPr>
            <a:xfrm>
              <a:off x="4859513" y="5965527"/>
              <a:ext cx="443884" cy="464166"/>
            </a:xfrm>
            <a:prstGeom prst="flowChartConnector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x</a:t>
              </a:r>
              <a:r>
                <a:rPr lang="en-US" altLang="zh-CN" sz="500" dirty="0"/>
                <a:t>4</a:t>
              </a:r>
              <a:endParaRPr lang="zh-CN" altLang="en-US" dirty="0"/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1600253" y="4445106"/>
              <a:ext cx="295275" cy="1333500"/>
              <a:chOff x="1457325" y="3505200"/>
              <a:chExt cx="295275" cy="1333500"/>
            </a:xfrm>
          </p:grpSpPr>
          <p:sp>
            <p:nvSpPr>
              <p:cNvPr id="15" name="矩形: 圆角 14"/>
              <p:cNvSpPr/>
              <p:nvPr/>
            </p:nvSpPr>
            <p:spPr>
              <a:xfrm>
                <a:off x="1457325" y="3505200"/>
                <a:ext cx="295275" cy="1333500"/>
              </a:xfrm>
              <a:prstGeom prst="round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椭圆 15"/>
              <p:cNvSpPr/>
              <p:nvPr/>
            </p:nvSpPr>
            <p:spPr>
              <a:xfrm>
                <a:off x="1525949" y="4591050"/>
                <a:ext cx="159976" cy="18097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1525949" y="4343400"/>
                <a:ext cx="159976" cy="18097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椭圆 17"/>
              <p:cNvSpPr/>
              <p:nvPr/>
            </p:nvSpPr>
            <p:spPr>
              <a:xfrm>
                <a:off x="1525949" y="4095750"/>
                <a:ext cx="159976" cy="18097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椭圆 18"/>
              <p:cNvSpPr/>
              <p:nvPr/>
            </p:nvSpPr>
            <p:spPr>
              <a:xfrm>
                <a:off x="1525949" y="3846661"/>
                <a:ext cx="159976" cy="18097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椭圆 19"/>
              <p:cNvSpPr/>
              <p:nvPr/>
            </p:nvSpPr>
            <p:spPr>
              <a:xfrm>
                <a:off x="1525949" y="3617463"/>
                <a:ext cx="159976" cy="18097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2711441" y="4445106"/>
              <a:ext cx="295275" cy="1333500"/>
              <a:chOff x="1457325" y="3505200"/>
              <a:chExt cx="295275" cy="1333500"/>
            </a:xfrm>
          </p:grpSpPr>
          <p:sp>
            <p:nvSpPr>
              <p:cNvPr id="23" name="矩形: 圆角 22"/>
              <p:cNvSpPr/>
              <p:nvPr/>
            </p:nvSpPr>
            <p:spPr>
              <a:xfrm>
                <a:off x="1457325" y="3505200"/>
                <a:ext cx="295275" cy="1333500"/>
              </a:xfrm>
              <a:prstGeom prst="round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1525949" y="4591050"/>
                <a:ext cx="159976" cy="18097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椭圆 24"/>
              <p:cNvSpPr/>
              <p:nvPr/>
            </p:nvSpPr>
            <p:spPr>
              <a:xfrm>
                <a:off x="1525949" y="4343400"/>
                <a:ext cx="159976" cy="18097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椭圆 25"/>
              <p:cNvSpPr/>
              <p:nvPr/>
            </p:nvSpPr>
            <p:spPr>
              <a:xfrm>
                <a:off x="1525949" y="4095750"/>
                <a:ext cx="159976" cy="18097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椭圆 26"/>
              <p:cNvSpPr/>
              <p:nvPr/>
            </p:nvSpPr>
            <p:spPr>
              <a:xfrm>
                <a:off x="1525949" y="3846661"/>
                <a:ext cx="159976" cy="18097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椭圆 27"/>
              <p:cNvSpPr/>
              <p:nvPr/>
            </p:nvSpPr>
            <p:spPr>
              <a:xfrm>
                <a:off x="1525949" y="3617463"/>
                <a:ext cx="159976" cy="18097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9" name="组合 28"/>
            <p:cNvGrpSpPr/>
            <p:nvPr/>
          </p:nvGrpSpPr>
          <p:grpSpPr>
            <a:xfrm>
              <a:off x="3822629" y="4453192"/>
              <a:ext cx="295275" cy="1333500"/>
              <a:chOff x="1457325" y="3505200"/>
              <a:chExt cx="295275" cy="1333500"/>
            </a:xfrm>
          </p:grpSpPr>
          <p:sp>
            <p:nvSpPr>
              <p:cNvPr id="30" name="矩形: 圆角 29"/>
              <p:cNvSpPr/>
              <p:nvPr/>
            </p:nvSpPr>
            <p:spPr>
              <a:xfrm>
                <a:off x="1457325" y="3505200"/>
                <a:ext cx="295275" cy="1333500"/>
              </a:xfrm>
              <a:prstGeom prst="round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椭圆 30"/>
              <p:cNvSpPr/>
              <p:nvPr/>
            </p:nvSpPr>
            <p:spPr>
              <a:xfrm>
                <a:off x="1525949" y="4591050"/>
                <a:ext cx="159976" cy="18097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椭圆 31"/>
              <p:cNvSpPr/>
              <p:nvPr/>
            </p:nvSpPr>
            <p:spPr>
              <a:xfrm>
                <a:off x="1525949" y="4343400"/>
                <a:ext cx="159976" cy="18097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1525949" y="4095750"/>
                <a:ext cx="159976" cy="18097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椭圆 33"/>
              <p:cNvSpPr/>
              <p:nvPr/>
            </p:nvSpPr>
            <p:spPr>
              <a:xfrm>
                <a:off x="1525949" y="3846661"/>
                <a:ext cx="159976" cy="18097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椭圆 34"/>
              <p:cNvSpPr/>
              <p:nvPr/>
            </p:nvSpPr>
            <p:spPr>
              <a:xfrm>
                <a:off x="1525949" y="3617463"/>
                <a:ext cx="159976" cy="18097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>
              <a:off x="4933817" y="4440598"/>
              <a:ext cx="295275" cy="1333500"/>
              <a:chOff x="1457325" y="3505200"/>
              <a:chExt cx="295275" cy="1333500"/>
            </a:xfrm>
          </p:grpSpPr>
          <p:sp>
            <p:nvSpPr>
              <p:cNvPr id="37" name="矩形: 圆角 36"/>
              <p:cNvSpPr/>
              <p:nvPr/>
            </p:nvSpPr>
            <p:spPr>
              <a:xfrm>
                <a:off x="1457325" y="3505200"/>
                <a:ext cx="295275" cy="1333500"/>
              </a:xfrm>
              <a:prstGeom prst="round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椭圆 37"/>
              <p:cNvSpPr/>
              <p:nvPr/>
            </p:nvSpPr>
            <p:spPr>
              <a:xfrm>
                <a:off x="1525949" y="4591050"/>
                <a:ext cx="159976" cy="18097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椭圆 38"/>
              <p:cNvSpPr/>
              <p:nvPr/>
            </p:nvSpPr>
            <p:spPr>
              <a:xfrm>
                <a:off x="1525949" y="4343400"/>
                <a:ext cx="159976" cy="18097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椭圆 39"/>
              <p:cNvSpPr/>
              <p:nvPr/>
            </p:nvSpPr>
            <p:spPr>
              <a:xfrm>
                <a:off x="1525949" y="4095750"/>
                <a:ext cx="159976" cy="18097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椭圆 40"/>
              <p:cNvSpPr/>
              <p:nvPr/>
            </p:nvSpPr>
            <p:spPr>
              <a:xfrm>
                <a:off x="1525949" y="3846661"/>
                <a:ext cx="159976" cy="18097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椭圆 41"/>
              <p:cNvSpPr/>
              <p:nvPr/>
            </p:nvSpPr>
            <p:spPr>
              <a:xfrm>
                <a:off x="1525949" y="3617463"/>
                <a:ext cx="159976" cy="18097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3" name="矩形 42"/>
            <p:cNvSpPr/>
            <p:nvPr/>
          </p:nvSpPr>
          <p:spPr>
            <a:xfrm>
              <a:off x="1410673" y="3780146"/>
              <a:ext cx="674433" cy="3810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LSTM</a:t>
              </a:r>
              <a:endParaRPr lang="zh-CN" altLang="en-US" sz="1600" dirty="0"/>
            </a:p>
          </p:txBody>
        </p:sp>
        <p:sp>
          <p:nvSpPr>
            <p:cNvPr id="44" name="矩形 43"/>
            <p:cNvSpPr/>
            <p:nvPr/>
          </p:nvSpPr>
          <p:spPr>
            <a:xfrm>
              <a:off x="2521861" y="3780146"/>
              <a:ext cx="674433" cy="3810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LSTM</a:t>
              </a:r>
              <a:endParaRPr lang="zh-CN" altLang="en-US" sz="1600" dirty="0"/>
            </a:p>
          </p:txBody>
        </p:sp>
        <p:sp>
          <p:nvSpPr>
            <p:cNvPr id="45" name="矩形 44"/>
            <p:cNvSpPr/>
            <p:nvPr/>
          </p:nvSpPr>
          <p:spPr>
            <a:xfrm>
              <a:off x="3633049" y="3784075"/>
              <a:ext cx="674433" cy="3810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LSTM</a:t>
              </a:r>
              <a:endParaRPr lang="zh-CN" altLang="en-US" sz="1600" dirty="0"/>
            </a:p>
          </p:txBody>
        </p:sp>
        <p:sp>
          <p:nvSpPr>
            <p:cNvPr id="46" name="矩形 45"/>
            <p:cNvSpPr/>
            <p:nvPr/>
          </p:nvSpPr>
          <p:spPr>
            <a:xfrm>
              <a:off x="4744237" y="3780146"/>
              <a:ext cx="674433" cy="3810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LSTM</a:t>
              </a:r>
              <a:endParaRPr lang="zh-CN" altLang="en-US" sz="1600" dirty="0"/>
            </a:p>
          </p:txBody>
        </p:sp>
        <p:sp>
          <p:nvSpPr>
            <p:cNvPr id="47" name="矩形 46"/>
            <p:cNvSpPr/>
            <p:nvPr/>
          </p:nvSpPr>
          <p:spPr>
            <a:xfrm>
              <a:off x="1410672" y="2892943"/>
              <a:ext cx="4007998" cy="464166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/>
                <a:t>CRF</a:t>
              </a:r>
              <a:endParaRPr lang="zh-CN" altLang="en-US" sz="1600" b="1" dirty="0"/>
            </a:p>
          </p:txBody>
        </p:sp>
        <p:sp>
          <p:nvSpPr>
            <p:cNvPr id="48" name="流程图: 接点 47"/>
            <p:cNvSpPr/>
            <p:nvPr/>
          </p:nvSpPr>
          <p:spPr>
            <a:xfrm>
              <a:off x="1525949" y="2067411"/>
              <a:ext cx="443884" cy="464166"/>
            </a:xfrm>
            <a:prstGeom prst="flowChartConnector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B</a:t>
              </a:r>
              <a:endParaRPr lang="zh-CN" altLang="en-US" dirty="0"/>
            </a:p>
          </p:txBody>
        </p:sp>
        <p:sp>
          <p:nvSpPr>
            <p:cNvPr id="49" name="流程图: 接点 48"/>
            <p:cNvSpPr/>
            <p:nvPr/>
          </p:nvSpPr>
          <p:spPr>
            <a:xfrm>
              <a:off x="2637137" y="2067411"/>
              <a:ext cx="443884" cy="464166"/>
            </a:xfrm>
            <a:prstGeom prst="flowChartConnector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I</a:t>
              </a:r>
              <a:endParaRPr lang="zh-CN" altLang="en-US" dirty="0"/>
            </a:p>
          </p:txBody>
        </p:sp>
        <p:sp>
          <p:nvSpPr>
            <p:cNvPr id="50" name="流程图: 接点 49"/>
            <p:cNvSpPr/>
            <p:nvPr/>
          </p:nvSpPr>
          <p:spPr>
            <a:xfrm>
              <a:off x="3748325" y="2067411"/>
              <a:ext cx="443884" cy="464166"/>
            </a:xfrm>
            <a:prstGeom prst="flowChartConnector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O</a:t>
              </a:r>
              <a:endParaRPr lang="zh-CN" altLang="en-US" dirty="0"/>
            </a:p>
          </p:txBody>
        </p:sp>
        <p:sp>
          <p:nvSpPr>
            <p:cNvPr id="51" name="流程图: 接点 50"/>
            <p:cNvSpPr/>
            <p:nvPr/>
          </p:nvSpPr>
          <p:spPr>
            <a:xfrm>
              <a:off x="4859513" y="2067411"/>
              <a:ext cx="443884" cy="464166"/>
            </a:xfrm>
            <a:prstGeom prst="flowChartConnector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B</a:t>
              </a:r>
              <a:endParaRPr lang="zh-CN" altLang="en-US" dirty="0"/>
            </a:p>
          </p:txBody>
        </p:sp>
        <p:cxnSp>
          <p:nvCxnSpPr>
            <p:cNvPr id="54" name="直接箭头连接符 53"/>
            <p:cNvCxnSpPr>
              <a:stCxn id="11" idx="0"/>
              <a:endCxn id="15" idx="2"/>
            </p:cNvCxnSpPr>
            <p:nvPr/>
          </p:nvCxnSpPr>
          <p:spPr>
            <a:xfrm flipV="1">
              <a:off x="1747891" y="5778606"/>
              <a:ext cx="0" cy="18692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直接箭头连接符 54"/>
            <p:cNvCxnSpPr/>
            <p:nvPr/>
          </p:nvCxnSpPr>
          <p:spPr>
            <a:xfrm flipV="1">
              <a:off x="2862316" y="5778606"/>
              <a:ext cx="0" cy="18692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直接箭头连接符 55"/>
            <p:cNvCxnSpPr/>
            <p:nvPr/>
          </p:nvCxnSpPr>
          <p:spPr>
            <a:xfrm flipV="1">
              <a:off x="3967216" y="5788131"/>
              <a:ext cx="0" cy="18692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直接箭头连接符 56"/>
            <p:cNvCxnSpPr/>
            <p:nvPr/>
          </p:nvCxnSpPr>
          <p:spPr>
            <a:xfrm flipV="1">
              <a:off x="5072116" y="5769081"/>
              <a:ext cx="0" cy="18692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直接箭头连接符 58"/>
            <p:cNvCxnSpPr>
              <a:stCxn id="15" idx="0"/>
              <a:endCxn id="43" idx="2"/>
            </p:cNvCxnSpPr>
            <p:nvPr/>
          </p:nvCxnSpPr>
          <p:spPr>
            <a:xfrm flipH="1" flipV="1">
              <a:off x="1747890" y="4161146"/>
              <a:ext cx="1" cy="28396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直接箭头连接符 59"/>
            <p:cNvCxnSpPr/>
            <p:nvPr/>
          </p:nvCxnSpPr>
          <p:spPr>
            <a:xfrm flipH="1" flipV="1">
              <a:off x="2859076" y="4170774"/>
              <a:ext cx="1" cy="28396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直接箭头连接符 60"/>
            <p:cNvCxnSpPr/>
            <p:nvPr/>
          </p:nvCxnSpPr>
          <p:spPr>
            <a:xfrm flipH="1" flipV="1">
              <a:off x="3968005" y="4171566"/>
              <a:ext cx="1" cy="28396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直接箭头连接符 61"/>
            <p:cNvCxnSpPr/>
            <p:nvPr/>
          </p:nvCxnSpPr>
          <p:spPr>
            <a:xfrm flipH="1" flipV="1">
              <a:off x="5072115" y="4131429"/>
              <a:ext cx="1" cy="28396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直接箭头连接符 62"/>
            <p:cNvCxnSpPr/>
            <p:nvPr/>
          </p:nvCxnSpPr>
          <p:spPr>
            <a:xfrm flipH="1" flipV="1">
              <a:off x="1747888" y="3365591"/>
              <a:ext cx="1" cy="41607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直接箭头连接符 67"/>
            <p:cNvCxnSpPr/>
            <p:nvPr/>
          </p:nvCxnSpPr>
          <p:spPr>
            <a:xfrm flipH="1" flipV="1">
              <a:off x="2862316" y="3365499"/>
              <a:ext cx="1" cy="41607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直接箭头连接符 68"/>
            <p:cNvCxnSpPr/>
            <p:nvPr/>
          </p:nvCxnSpPr>
          <p:spPr>
            <a:xfrm flipH="1" flipV="1">
              <a:off x="3967215" y="3366634"/>
              <a:ext cx="1" cy="41607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直接箭头连接符 69"/>
            <p:cNvCxnSpPr/>
            <p:nvPr/>
          </p:nvCxnSpPr>
          <p:spPr>
            <a:xfrm flipH="1" flipV="1">
              <a:off x="5081506" y="3346449"/>
              <a:ext cx="1" cy="41607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直接箭头连接符 70"/>
            <p:cNvCxnSpPr/>
            <p:nvPr/>
          </p:nvCxnSpPr>
          <p:spPr>
            <a:xfrm flipH="1" flipV="1">
              <a:off x="1740277" y="2507577"/>
              <a:ext cx="1" cy="41607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直接箭头连接符 71"/>
            <p:cNvCxnSpPr/>
            <p:nvPr/>
          </p:nvCxnSpPr>
          <p:spPr>
            <a:xfrm flipH="1" flipV="1">
              <a:off x="2854705" y="2507485"/>
              <a:ext cx="1" cy="41607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直接箭头连接符 72"/>
            <p:cNvCxnSpPr/>
            <p:nvPr/>
          </p:nvCxnSpPr>
          <p:spPr>
            <a:xfrm flipV="1">
              <a:off x="3959604" y="2508620"/>
              <a:ext cx="0" cy="395885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直接箭头连接符 73"/>
            <p:cNvCxnSpPr/>
            <p:nvPr/>
          </p:nvCxnSpPr>
          <p:spPr>
            <a:xfrm flipH="1" flipV="1">
              <a:off x="5073895" y="2488435"/>
              <a:ext cx="1" cy="41607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直接箭头连接符 81"/>
            <p:cNvCxnSpPr/>
            <p:nvPr/>
          </p:nvCxnSpPr>
          <p:spPr>
            <a:xfrm>
              <a:off x="1008434" y="3889374"/>
              <a:ext cx="40223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直接箭头连接符 82"/>
            <p:cNvCxnSpPr/>
            <p:nvPr/>
          </p:nvCxnSpPr>
          <p:spPr>
            <a:xfrm>
              <a:off x="2119623" y="3889374"/>
              <a:ext cx="40223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直接箭头连接符 83"/>
            <p:cNvCxnSpPr/>
            <p:nvPr/>
          </p:nvCxnSpPr>
          <p:spPr>
            <a:xfrm>
              <a:off x="3230811" y="3889374"/>
              <a:ext cx="40223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直接箭头连接符 84"/>
            <p:cNvCxnSpPr/>
            <p:nvPr/>
          </p:nvCxnSpPr>
          <p:spPr>
            <a:xfrm>
              <a:off x="4307482" y="3889374"/>
              <a:ext cx="40223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直接箭头连接符 85"/>
            <p:cNvCxnSpPr/>
            <p:nvPr/>
          </p:nvCxnSpPr>
          <p:spPr>
            <a:xfrm>
              <a:off x="5428156" y="3892548"/>
              <a:ext cx="40223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直接箭头连接符 86"/>
            <p:cNvCxnSpPr/>
            <p:nvPr/>
          </p:nvCxnSpPr>
          <p:spPr>
            <a:xfrm flipH="1">
              <a:off x="1002313" y="4063998"/>
              <a:ext cx="40835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9" name="直接箭头连接符 88"/>
            <p:cNvCxnSpPr/>
            <p:nvPr/>
          </p:nvCxnSpPr>
          <p:spPr>
            <a:xfrm flipH="1">
              <a:off x="2113502" y="4063998"/>
              <a:ext cx="40835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直接箭头连接符 89"/>
            <p:cNvCxnSpPr/>
            <p:nvPr/>
          </p:nvCxnSpPr>
          <p:spPr>
            <a:xfrm flipH="1">
              <a:off x="3196294" y="4063998"/>
              <a:ext cx="40835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直接箭头连接符 90"/>
            <p:cNvCxnSpPr/>
            <p:nvPr/>
          </p:nvCxnSpPr>
          <p:spPr>
            <a:xfrm flipH="1">
              <a:off x="4301361" y="4063998"/>
              <a:ext cx="40835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直接箭头连接符 91"/>
            <p:cNvCxnSpPr/>
            <p:nvPr/>
          </p:nvCxnSpPr>
          <p:spPr>
            <a:xfrm flipH="1">
              <a:off x="5428156" y="4063998"/>
              <a:ext cx="40835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4" name="文本框 93"/>
          <p:cNvSpPr txBox="1"/>
          <p:nvPr/>
        </p:nvSpPr>
        <p:spPr>
          <a:xfrm>
            <a:off x="428626" y="4800990"/>
            <a:ext cx="1295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embedding layer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实验：基于神经网络的命名实体识别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基于</a:t>
            </a:r>
            <a:r>
              <a:rPr lang="en-US" altLang="zh-CN" dirty="0">
                <a:solidFill>
                  <a:srgbClr val="FF0000"/>
                </a:solidFill>
              </a:rPr>
              <a:t>pytorch</a:t>
            </a:r>
            <a:r>
              <a:rPr lang="zh-CN" altLang="en-US" dirty="0">
                <a:solidFill>
                  <a:srgbClr val="FF0000"/>
                </a:solidFill>
              </a:rPr>
              <a:t>的</a:t>
            </a:r>
            <a:r>
              <a:rPr lang="en-US" altLang="zh-CN" dirty="0">
                <a:solidFill>
                  <a:srgbClr val="FF0000"/>
                </a:solidFill>
              </a:rPr>
              <a:t>LSTM+CRF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代码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   </a:t>
            </a:r>
            <a:r>
              <a:rPr lang="zh-CN" altLang="en-US" sz="2400" dirty="0"/>
              <a:t>包含</a:t>
            </a:r>
            <a:r>
              <a:rPr lang="en-US" altLang="zh-CN" sz="2400" dirty="0"/>
              <a:t>train.py</a:t>
            </a:r>
            <a:r>
              <a:rPr lang="zh-CN" altLang="en-US" sz="2400" dirty="0"/>
              <a:t>，</a:t>
            </a:r>
            <a:r>
              <a:rPr lang="en-US" altLang="zh-CN" sz="2400" dirty="0"/>
              <a:t>model.py</a:t>
            </a:r>
            <a:r>
              <a:rPr lang="zh-CN" altLang="en-US" sz="2400" dirty="0"/>
              <a:t>，</a:t>
            </a:r>
            <a:r>
              <a:rPr lang="en-US" altLang="zh-CN" sz="2400" dirty="0"/>
              <a:t>helper.py</a:t>
            </a:r>
            <a:r>
              <a:rPr lang="zh-CN" altLang="en-US" sz="2400" dirty="0"/>
              <a:t>三个部分。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训练数据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   </a:t>
            </a:r>
            <a:r>
              <a:rPr lang="zh-CN" altLang="en-US" sz="2400" dirty="0"/>
              <a:t>便于理解，这里只使用两条数据及其标签作为训练数据。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评测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8655" y="4330700"/>
            <a:ext cx="6907530" cy="14516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113" y="1045029"/>
            <a:ext cx="11901715" cy="1364796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train.py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457200">
              <a:lnSpc>
                <a:spcPct val="160000"/>
              </a:lnSpc>
              <a:buNone/>
            </a:pPr>
            <a:r>
              <a:rPr lang="zh-CN" altLang="en-US" sz="2200" dirty="0"/>
              <a:t>主要功能包括准备数据、训练、验证结果。</a:t>
            </a:r>
            <a:endParaRPr lang="en-US" altLang="zh-CN" sz="2200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实验：基于</a:t>
            </a:r>
            <a:r>
              <a:rPr lang="en-US" altLang="zh-CN" dirty="0"/>
              <a:t>LSTM+CRF</a:t>
            </a:r>
            <a:r>
              <a:rPr lang="zh-CN" altLang="en-US" dirty="0"/>
              <a:t>的命名实体识别</a:t>
            </a:r>
            <a:endParaRPr lang="zh-CN" altLang="en-US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555" y="2924846"/>
            <a:ext cx="8086725" cy="2286000"/>
          </a:xfrm>
          <a:prstGeom prst="rect">
            <a:avLst/>
          </a:prstGeom>
        </p:spPr>
      </p:pic>
      <p:grpSp>
        <p:nvGrpSpPr>
          <p:cNvPr id="25" name="组合 24"/>
          <p:cNvGrpSpPr/>
          <p:nvPr/>
        </p:nvGrpSpPr>
        <p:grpSpPr>
          <a:xfrm>
            <a:off x="693555" y="2294165"/>
            <a:ext cx="9745845" cy="495990"/>
            <a:chOff x="693555" y="2294165"/>
            <a:chExt cx="9745845" cy="495990"/>
          </a:xfrm>
        </p:grpSpPr>
        <p:sp>
          <p:nvSpPr>
            <p:cNvPr id="10" name="矩形 9"/>
            <p:cNvSpPr/>
            <p:nvPr/>
          </p:nvSpPr>
          <p:spPr>
            <a:xfrm>
              <a:off x="693555" y="2294165"/>
              <a:ext cx="1325745" cy="49599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/>
                <a:t>准备数据：</a:t>
              </a:r>
              <a:endParaRPr lang="zh-CN" altLang="en-US" sz="2000" b="1" dirty="0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2162175" y="2357494"/>
              <a:ext cx="82772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制作词典；数据数字化；</a:t>
              </a:r>
              <a:endParaRPr lang="zh-CN" altLang="en-US" dirty="0"/>
            </a:p>
          </p:txBody>
        </p:sp>
      </p:grpSp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555" y="6086475"/>
            <a:ext cx="9363075" cy="742950"/>
          </a:xfrm>
          <a:prstGeom prst="rect">
            <a:avLst/>
          </a:prstGeom>
        </p:spPr>
      </p:pic>
      <p:grpSp>
        <p:nvGrpSpPr>
          <p:cNvPr id="26" name="组合 25"/>
          <p:cNvGrpSpPr/>
          <p:nvPr/>
        </p:nvGrpSpPr>
        <p:grpSpPr>
          <a:xfrm>
            <a:off x="693555" y="5400665"/>
            <a:ext cx="9745845" cy="495990"/>
            <a:chOff x="693555" y="2294165"/>
            <a:chExt cx="9745845" cy="495990"/>
          </a:xfrm>
        </p:grpSpPr>
        <p:sp>
          <p:nvSpPr>
            <p:cNvPr id="27" name="矩形 26"/>
            <p:cNvSpPr/>
            <p:nvPr/>
          </p:nvSpPr>
          <p:spPr>
            <a:xfrm>
              <a:off x="693555" y="2294165"/>
              <a:ext cx="1325745" cy="49599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/>
                <a:t>实例化：</a:t>
              </a:r>
              <a:endParaRPr lang="zh-CN" altLang="en-US" sz="2000" b="1" dirty="0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2162175" y="2357494"/>
              <a:ext cx="82772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模型和优化器；</a:t>
              </a:r>
              <a:endParaRPr lang="zh-CN" altLang="en-US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113" y="1045029"/>
            <a:ext cx="11901715" cy="657914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train.py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实验：基于</a:t>
            </a:r>
            <a:r>
              <a:rPr lang="en-US" altLang="zh-CN" dirty="0"/>
              <a:t>LSTM+CRF</a:t>
            </a:r>
            <a:r>
              <a:rPr lang="zh-CN" altLang="en-US" dirty="0"/>
              <a:t>的命名实体识别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531630" y="1670908"/>
            <a:ext cx="1325745" cy="49599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开始训练：</a:t>
            </a:r>
            <a:endParaRPr lang="zh-CN" altLang="en-US" sz="2000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1200" y="1723640"/>
            <a:ext cx="2628900" cy="3905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81" y="2419356"/>
            <a:ext cx="7164570" cy="4126383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7910783" y="1866170"/>
            <a:ext cx="4107045" cy="49599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对每个</a:t>
            </a:r>
            <a:r>
              <a:rPr lang="en-US" altLang="zh-CN" sz="2000" b="1" dirty="0"/>
              <a:t>batch</a:t>
            </a:r>
            <a:r>
              <a:rPr lang="zh-CN" altLang="en-US" sz="2000" b="1" dirty="0"/>
              <a:t>，首先将参数梯度置零</a:t>
            </a:r>
            <a:endParaRPr lang="zh-CN" altLang="en-US" sz="2000" b="1" dirty="0"/>
          </a:p>
        </p:txBody>
      </p:sp>
      <p:sp>
        <p:nvSpPr>
          <p:cNvPr id="9" name="矩形 8"/>
          <p:cNvSpPr/>
          <p:nvPr/>
        </p:nvSpPr>
        <p:spPr>
          <a:xfrm>
            <a:off x="7910783" y="2969325"/>
            <a:ext cx="4107045" cy="49599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数据</a:t>
            </a:r>
            <a:r>
              <a:rPr lang="en-US" altLang="zh-CN" sz="2000" b="1" dirty="0"/>
              <a:t>tensor</a:t>
            </a:r>
            <a:r>
              <a:rPr lang="zh-CN" altLang="en-US" sz="2000" b="1" dirty="0"/>
              <a:t>化</a:t>
            </a:r>
            <a:endParaRPr lang="zh-CN" altLang="en-US" sz="2000" b="1" dirty="0"/>
          </a:p>
        </p:txBody>
      </p:sp>
      <p:sp>
        <p:nvSpPr>
          <p:cNvPr id="11" name="矩形 10"/>
          <p:cNvSpPr/>
          <p:nvPr/>
        </p:nvSpPr>
        <p:spPr>
          <a:xfrm>
            <a:off x="7910783" y="4072480"/>
            <a:ext cx="4107045" cy="49599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前向传播计算预测值并计算</a:t>
            </a:r>
            <a:r>
              <a:rPr lang="en-US" altLang="zh-CN" sz="2000" b="1" dirty="0"/>
              <a:t>loss</a:t>
            </a:r>
            <a:endParaRPr lang="zh-CN" altLang="en-US" sz="2000" b="1" dirty="0"/>
          </a:p>
        </p:txBody>
      </p:sp>
      <p:sp>
        <p:nvSpPr>
          <p:cNvPr id="12" name="矩形 11"/>
          <p:cNvSpPr/>
          <p:nvPr/>
        </p:nvSpPr>
        <p:spPr>
          <a:xfrm>
            <a:off x="7910783" y="5175635"/>
            <a:ext cx="4107045" cy="49599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反向传播计算梯度</a:t>
            </a:r>
            <a:endParaRPr lang="zh-CN" altLang="en-US" sz="2000" b="1" dirty="0"/>
          </a:p>
        </p:txBody>
      </p:sp>
      <p:sp>
        <p:nvSpPr>
          <p:cNvPr id="13" name="矩形 12"/>
          <p:cNvSpPr/>
          <p:nvPr/>
        </p:nvSpPr>
        <p:spPr>
          <a:xfrm>
            <a:off x="7910783" y="6297744"/>
            <a:ext cx="4107045" cy="49599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更新参数</a:t>
            </a:r>
            <a:endParaRPr lang="zh-CN" altLang="en-US" sz="2000" b="1" dirty="0"/>
          </a:p>
        </p:txBody>
      </p:sp>
      <p:cxnSp>
        <p:nvCxnSpPr>
          <p:cNvPr id="17" name="直接连接符 16"/>
          <p:cNvCxnSpPr>
            <a:endCxn id="8" idx="1"/>
          </p:cNvCxnSpPr>
          <p:nvPr/>
        </p:nvCxnSpPr>
        <p:spPr>
          <a:xfrm flipV="1">
            <a:off x="2628900" y="2114165"/>
            <a:ext cx="5281883" cy="1103155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0" name="直接连接符 19"/>
          <p:cNvCxnSpPr>
            <a:stCxn id="9" idx="1"/>
          </p:cNvCxnSpPr>
          <p:nvPr/>
        </p:nvCxnSpPr>
        <p:spPr>
          <a:xfrm flipH="1">
            <a:off x="5876925" y="3217320"/>
            <a:ext cx="2033858" cy="109367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H="1">
            <a:off x="5876925" y="4476201"/>
            <a:ext cx="2033858" cy="69943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直接连接符 28"/>
          <p:cNvCxnSpPr>
            <a:stCxn id="12" idx="1"/>
          </p:cNvCxnSpPr>
          <p:nvPr/>
        </p:nvCxnSpPr>
        <p:spPr>
          <a:xfrm flipH="1">
            <a:off x="2305050" y="5423630"/>
            <a:ext cx="5605733" cy="72952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1" name="直接连接符 30"/>
          <p:cNvCxnSpPr>
            <a:stCxn id="13" idx="1"/>
          </p:cNvCxnSpPr>
          <p:nvPr/>
        </p:nvCxnSpPr>
        <p:spPr>
          <a:xfrm flipH="1" flipV="1">
            <a:off x="2371725" y="6428974"/>
            <a:ext cx="5539058" cy="116765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113" y="921204"/>
            <a:ext cx="11901715" cy="1040946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model.py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457200">
              <a:lnSpc>
                <a:spcPct val="160000"/>
              </a:lnSpc>
              <a:buNone/>
            </a:pPr>
            <a:r>
              <a:rPr lang="zh-CN" altLang="en-US" sz="2200" dirty="0"/>
              <a:t>主要功能为搭建神经网络主体。</a:t>
            </a:r>
            <a:endParaRPr lang="en-US" altLang="zh-CN" sz="2200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实验：基于</a:t>
            </a:r>
            <a:r>
              <a:rPr lang="en-US" altLang="zh-CN" dirty="0"/>
              <a:t>LSTM+CRF</a:t>
            </a:r>
            <a:r>
              <a:rPr lang="zh-CN" altLang="en-US" dirty="0"/>
              <a:t>的命名实体识别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700" y="1933575"/>
            <a:ext cx="7048500" cy="492442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7910781" y="3181005"/>
            <a:ext cx="4107045" cy="49599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实例化一个</a:t>
            </a:r>
            <a:r>
              <a:rPr lang="en-US" altLang="zh-CN" sz="2000" b="1" dirty="0"/>
              <a:t>LSTM</a:t>
            </a:r>
            <a:r>
              <a:rPr lang="zh-CN" altLang="en-US" sz="2000" b="1" dirty="0"/>
              <a:t>网络</a:t>
            </a:r>
            <a:endParaRPr lang="zh-CN" altLang="en-US" sz="2000" b="1" dirty="0"/>
          </a:p>
        </p:txBody>
      </p:sp>
      <p:sp>
        <p:nvSpPr>
          <p:cNvPr id="7" name="矩形 6"/>
          <p:cNvSpPr/>
          <p:nvPr/>
        </p:nvSpPr>
        <p:spPr>
          <a:xfrm>
            <a:off x="7910782" y="4971320"/>
            <a:ext cx="4107045" cy="49599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b="1" dirty="0"/>
              <a:t>CRF</a:t>
            </a:r>
            <a:r>
              <a:rPr lang="zh-CN" altLang="en-US" sz="2000" b="1" dirty="0"/>
              <a:t>转移矩阵</a:t>
            </a:r>
            <a:endParaRPr lang="zh-CN" altLang="en-US" sz="2000" b="1" dirty="0"/>
          </a:p>
        </p:txBody>
      </p:sp>
      <p:cxnSp>
        <p:nvCxnSpPr>
          <p:cNvPr id="12" name="直接连接符 11"/>
          <p:cNvCxnSpPr>
            <a:endCxn id="6" idx="1"/>
          </p:cNvCxnSpPr>
          <p:nvPr/>
        </p:nvCxnSpPr>
        <p:spPr>
          <a:xfrm flipV="1">
            <a:off x="5915025" y="3429000"/>
            <a:ext cx="1995756" cy="126036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直接连接符 14"/>
          <p:cNvCxnSpPr>
            <a:endCxn id="7" idx="1"/>
          </p:cNvCxnSpPr>
          <p:nvPr/>
        </p:nvCxnSpPr>
        <p:spPr>
          <a:xfrm flipV="1">
            <a:off x="4281220" y="5219315"/>
            <a:ext cx="3629562" cy="1143385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113" y="921204"/>
            <a:ext cx="11901715" cy="1040946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model.py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457200">
              <a:lnSpc>
                <a:spcPct val="160000"/>
              </a:lnSpc>
              <a:buNone/>
            </a:pPr>
            <a:r>
              <a:rPr lang="zh-CN" altLang="en-US" sz="2200" dirty="0"/>
              <a:t>主要功能为搭建神经网络主体。</a:t>
            </a:r>
            <a:endParaRPr lang="en-US" altLang="zh-CN" sz="2200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实验：基于</a:t>
            </a:r>
            <a:r>
              <a:rPr lang="en-US" altLang="zh-CN" dirty="0"/>
              <a:t>LSTM+CRF</a:t>
            </a:r>
            <a:r>
              <a:rPr lang="zh-CN" altLang="en-US" dirty="0"/>
              <a:t>的命名实体识别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7686220" y="1311212"/>
            <a:ext cx="4107045" cy="49599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得到</a:t>
            </a:r>
            <a:r>
              <a:rPr lang="en-US" altLang="zh-CN" sz="2000" b="1" dirty="0"/>
              <a:t>LSTM</a:t>
            </a:r>
            <a:r>
              <a:rPr lang="zh-CN" altLang="en-US" sz="2000" b="1" dirty="0"/>
              <a:t>的输出作为</a:t>
            </a:r>
            <a:r>
              <a:rPr lang="en-US" altLang="zh-CN" sz="2000" b="1" dirty="0"/>
              <a:t>CRF</a:t>
            </a:r>
            <a:r>
              <a:rPr lang="zh-CN" altLang="en-US" sz="2000" b="1" dirty="0"/>
              <a:t>的输入</a:t>
            </a:r>
            <a:endParaRPr lang="zh-CN" altLang="en-US" sz="2000" b="1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181005"/>
            <a:ext cx="6316244" cy="1695450"/>
          </a:xfrm>
          <a:prstGeom prst="rect">
            <a:avLst/>
          </a:prstGeom>
        </p:spPr>
      </p:pic>
      <p:cxnSp>
        <p:nvCxnSpPr>
          <p:cNvPr id="12" name="直接连接符 11"/>
          <p:cNvCxnSpPr/>
          <p:nvPr/>
        </p:nvCxnSpPr>
        <p:spPr>
          <a:xfrm flipV="1">
            <a:off x="5553075" y="1654188"/>
            <a:ext cx="2133145" cy="198436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6066970" y="5298846"/>
                <a:ext cx="5898025" cy="693395"/>
              </a:xfrm>
              <a:prstGeom prst="rect">
                <a:avLst/>
              </a:prstGeom>
              <a:noFill/>
              <a:ln w="3175">
                <a:solidFill>
                  <a:srgbClr val="0070C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  <m:r>
                        <m:rPr>
                          <m:sty m:val="p"/>
                        </m:rPr>
                        <a:rPr lang="en-US" altLang="zh-CN" b="0" i="0" smtClean="0"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⁡(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b="0" i="1" smtClean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6970" y="5298846"/>
                <a:ext cx="5898025" cy="693395"/>
              </a:xfrm>
              <a:prstGeom prst="rect">
                <a:avLst/>
              </a:prstGeom>
              <a:blipFill rotWithShape="1">
                <a:blip r:embed="rId2"/>
                <a:stretch>
                  <a:fillRect l="-89" t="-700" r="-81" b="-678"/>
                </a:stretch>
              </a:blipFill>
              <a:ln w="3175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接连接符 14"/>
          <p:cNvCxnSpPr/>
          <p:nvPr/>
        </p:nvCxnSpPr>
        <p:spPr>
          <a:xfrm>
            <a:off x="5457825" y="4028730"/>
            <a:ext cx="1581150" cy="1616813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6981825" y="5626460"/>
            <a:ext cx="647700" cy="29125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7953829" y="5356978"/>
            <a:ext cx="3942895" cy="56073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" name="直接连接符 22"/>
          <p:cNvCxnSpPr/>
          <p:nvPr/>
        </p:nvCxnSpPr>
        <p:spPr>
          <a:xfrm>
            <a:off x="6096000" y="4300900"/>
            <a:ext cx="3228975" cy="105607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113" y="1045029"/>
            <a:ext cx="11901715" cy="1364796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helper.py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457200">
              <a:lnSpc>
                <a:spcPct val="160000"/>
              </a:lnSpc>
              <a:buNone/>
            </a:pPr>
            <a:r>
              <a:rPr lang="zh-CN" altLang="en-US" sz="2200" dirty="0"/>
              <a:t>主要功能为集成使用到的一些</a:t>
            </a:r>
            <a:r>
              <a:rPr lang="en-US" altLang="zh-CN" sz="2200" dirty="0"/>
              <a:t>function code</a:t>
            </a:r>
            <a:r>
              <a:rPr lang="zh-CN" altLang="en-US" sz="2200" dirty="0"/>
              <a:t>，如：</a:t>
            </a:r>
            <a:endParaRPr lang="en-US" altLang="zh-CN" sz="2200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实验：基于</a:t>
            </a:r>
            <a:r>
              <a:rPr lang="en-US" altLang="zh-CN" dirty="0"/>
              <a:t>LSTM+CRF</a:t>
            </a:r>
            <a:r>
              <a:rPr lang="zh-CN" altLang="en-US" dirty="0"/>
              <a:t>的命名实体识别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0750" y="2409825"/>
            <a:ext cx="7048500" cy="391507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113" y="1045029"/>
            <a:ext cx="11901715" cy="745671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标准化评测方法</a:t>
            </a:r>
            <a:endParaRPr lang="en-US" altLang="zh-CN" sz="2200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实验：基于</a:t>
            </a:r>
            <a:r>
              <a:rPr lang="en-US" altLang="zh-CN" dirty="0"/>
              <a:t>LSTM+CRF</a:t>
            </a:r>
            <a:r>
              <a:rPr lang="zh-CN" altLang="en-US" dirty="0"/>
              <a:t>的命名实体识别</a:t>
            </a: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1143497" y="2040047"/>
            <a:ext cx="4500292" cy="49599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对于每一类命名实体，定义三个指标：</a:t>
            </a:r>
            <a:endParaRPr lang="zh-CN" altLang="en-US" sz="2000" b="1" dirty="0"/>
          </a:p>
        </p:txBody>
      </p:sp>
      <p:grpSp>
        <p:nvGrpSpPr>
          <p:cNvPr id="14" name="组合 13"/>
          <p:cNvGrpSpPr/>
          <p:nvPr/>
        </p:nvGrpSpPr>
        <p:grpSpPr>
          <a:xfrm>
            <a:off x="6305550" y="1045029"/>
            <a:ext cx="3895725" cy="2733675"/>
            <a:chOff x="5857875" y="1257300"/>
            <a:chExt cx="3895725" cy="2733675"/>
          </a:xfrm>
        </p:grpSpPr>
        <p:sp>
          <p:nvSpPr>
            <p:cNvPr id="13" name="矩形 12"/>
            <p:cNvSpPr/>
            <p:nvPr/>
          </p:nvSpPr>
          <p:spPr>
            <a:xfrm>
              <a:off x="5857875" y="1257300"/>
              <a:ext cx="3895725" cy="27336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文本框 5"/>
                <p:cNvSpPr txBox="1"/>
                <p:nvPr/>
              </p:nvSpPr>
              <p:spPr>
                <a:xfrm>
                  <a:off x="6035493" y="1424088"/>
                  <a:ext cx="3272563" cy="58432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正确</m:t>
                            </m:r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识别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的</m:t>
                            </m:r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该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类</m:t>
                            </m:r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命名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实体</m:t>
                            </m:r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数</m:t>
                            </m:r>
                          </m:num>
                          <m:den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识别出</m:t>
                            </m:r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的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该</m:t>
                            </m:r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类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命名</m:t>
                            </m:r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实体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总数</m:t>
                            </m:r>
                          </m:den>
                        </m:f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6" name="文本框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35493" y="1424088"/>
                  <a:ext cx="3272563" cy="584327"/>
                </a:xfrm>
                <a:prstGeom prst="rect">
                  <a:avLst/>
                </a:prstGeom>
                <a:blipFill rotWithShape="1">
                  <a:blip r:embed="rId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文本框 6"/>
                <p:cNvSpPr txBox="1"/>
                <p:nvPr/>
              </p:nvSpPr>
              <p:spPr>
                <a:xfrm>
                  <a:off x="6066970" y="2343068"/>
                  <a:ext cx="3278462" cy="5959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正确</m:t>
                            </m:r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识别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的</m:t>
                            </m:r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该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类</m:t>
                            </m:r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命名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实体</m:t>
                            </m:r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数</m:t>
                            </m:r>
                          </m:num>
                          <m:den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该</m:t>
                            </m:r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类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命名实体</m:t>
                            </m:r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总数</m:t>
                            </m:r>
                          </m:den>
                        </m:f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7" name="文本框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66970" y="2343068"/>
                  <a:ext cx="3278462" cy="595932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文本框 7"/>
                <p:cNvSpPr txBox="1"/>
                <p:nvPr/>
              </p:nvSpPr>
              <p:spPr>
                <a:xfrm>
                  <a:off x="6066970" y="3318901"/>
                  <a:ext cx="1538242" cy="52501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den>
                        </m:f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8" name="文本框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66970" y="3318901"/>
                  <a:ext cx="1538242" cy="525016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" name="矩形 8"/>
          <p:cNvSpPr/>
          <p:nvPr/>
        </p:nvSpPr>
        <p:spPr>
          <a:xfrm>
            <a:off x="267197" y="5028856"/>
            <a:ext cx="5376592" cy="49599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对所有命名实体综合起来定义三个平均化指标：</a:t>
            </a:r>
            <a:endParaRPr lang="zh-CN" altLang="en-US" sz="2000" b="1" dirty="0"/>
          </a:p>
        </p:txBody>
      </p:sp>
      <p:grpSp>
        <p:nvGrpSpPr>
          <p:cNvPr id="15" name="组合 14"/>
          <p:cNvGrpSpPr/>
          <p:nvPr/>
        </p:nvGrpSpPr>
        <p:grpSpPr>
          <a:xfrm>
            <a:off x="6305549" y="3996419"/>
            <a:ext cx="3895725" cy="2733675"/>
            <a:chOff x="5857875" y="1257300"/>
            <a:chExt cx="3895725" cy="2733675"/>
          </a:xfrm>
        </p:grpSpPr>
        <p:sp>
          <p:nvSpPr>
            <p:cNvPr id="16" name="矩形 15"/>
            <p:cNvSpPr/>
            <p:nvPr/>
          </p:nvSpPr>
          <p:spPr>
            <a:xfrm>
              <a:off x="5857875" y="1257300"/>
              <a:ext cx="3895725" cy="27336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文本框 16"/>
                <p:cNvSpPr txBox="1"/>
                <p:nvPr/>
              </p:nvSpPr>
              <p:spPr>
                <a:xfrm>
                  <a:off x="6035493" y="1424088"/>
                  <a:ext cx="2810898" cy="58432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正确</m:t>
                            </m:r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识别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的</m:t>
                            </m:r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命名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实体</m:t>
                            </m:r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数</m:t>
                            </m:r>
                          </m:num>
                          <m:den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识别出</m:t>
                            </m:r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的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命名</m:t>
                            </m:r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实体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总数</m:t>
                            </m:r>
                          </m:den>
                        </m:f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7" name="文本框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35493" y="1424088"/>
                  <a:ext cx="2810898" cy="584327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文本框 17"/>
                <p:cNvSpPr txBox="1"/>
                <p:nvPr/>
              </p:nvSpPr>
              <p:spPr>
                <a:xfrm>
                  <a:off x="6066970" y="2343068"/>
                  <a:ext cx="2816797" cy="58432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正确</m:t>
                            </m:r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识别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的</m:t>
                            </m:r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命名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实体</m:t>
                            </m:r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数</m:t>
                            </m:r>
                          </m:num>
                          <m:den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命名实体</m:t>
                            </m:r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总数</m:t>
                            </m:r>
                          </m:den>
                        </m:f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8" name="文本框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66970" y="2343068"/>
                  <a:ext cx="2816797" cy="584327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文本框 18"/>
                <p:cNvSpPr txBox="1"/>
                <p:nvPr/>
              </p:nvSpPr>
              <p:spPr>
                <a:xfrm>
                  <a:off x="6066970" y="3318901"/>
                  <a:ext cx="1538242" cy="52501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den>
                        </m:f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9" name="文本框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66970" y="3318901"/>
                  <a:ext cx="1538242" cy="525016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Image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1734" y="1024728"/>
            <a:ext cx="8211751" cy="4984077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2013</Words>
  <Application>WPS 演示</Application>
  <PresentationFormat>宽屏</PresentationFormat>
  <Paragraphs>259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宋体</vt:lpstr>
      <vt:lpstr>Wingdings</vt:lpstr>
      <vt:lpstr>微软雅黑</vt:lpstr>
      <vt:lpstr>Cambria Math</vt:lpstr>
      <vt:lpstr>Calibri</vt:lpstr>
      <vt:lpstr>Arial Unicode MS</vt:lpstr>
      <vt:lpstr>Calibri Light</vt:lpstr>
      <vt:lpstr>等线</vt:lpstr>
      <vt:lpstr>Office Theme</vt:lpstr>
      <vt:lpstr>人工智能皇冠上的明珠：自然语言处理 简介、最新进展、未来趋势</vt:lpstr>
      <vt:lpstr>语言分析</vt:lpstr>
      <vt:lpstr>语言分析</vt:lpstr>
      <vt:lpstr>语言分析</vt:lpstr>
      <vt:lpstr>语言分析</vt:lpstr>
      <vt:lpstr>实验：基于神经网络的命名实体识别</vt:lpstr>
      <vt:lpstr>实验：基于LSTM+CRF的命名实体识别</vt:lpstr>
      <vt:lpstr>实验：基于LSTM+CRF的命名实体识别</vt:lpstr>
      <vt:lpstr>实验：基于LSTM+CRF的命名实体识别</vt:lpstr>
      <vt:lpstr>实验：基于LSTM+CRF的命名实体识别</vt:lpstr>
      <vt:lpstr>实验：基于LSTM+CRF的命名实体识别</vt:lpstr>
      <vt:lpstr>实验：基于LSTM+CRF的命名实体识别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Deyi Xiong</dc:creator>
  <cp:lastModifiedBy>不如上天</cp:lastModifiedBy>
  <cp:revision>319</cp:revision>
  <dcterms:created xsi:type="dcterms:W3CDTF">2019-10-07T02:45:00Z</dcterms:created>
  <dcterms:modified xsi:type="dcterms:W3CDTF">2025-03-20T16:37:03Z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AA060F10BB844F0B9EC699EC808B96B7_12</vt:lpwstr>
  </property>
  <property fmtid="{D5CDD505-2E9C-101B-9397-08002B2CF9AE}" pid="3" name="KSOProductBuildVer">
    <vt:lpwstr>2052-12.1.0.20305</vt:lpwstr>
  </property>
</Properties>
</file>